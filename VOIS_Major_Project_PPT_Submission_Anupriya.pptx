
<file path=[Content_Types].xml><?xml version="1.0" encoding="utf-8"?>
<Types xmlns="http://schemas.openxmlformats.org/package/2006/content-types">
  <Default Extension="jfif"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20"/>
  </p:notesMasterIdLst>
  <p:handoutMasterIdLst>
    <p:handoutMasterId r:id="rId21"/>
  </p:handoutMasterIdLst>
  <p:sldIdLst>
    <p:sldId id="338" r:id="rId5"/>
    <p:sldId id="327" r:id="rId6"/>
    <p:sldId id="315" r:id="rId7"/>
    <p:sldId id="329" r:id="rId8"/>
    <p:sldId id="302" r:id="rId9"/>
    <p:sldId id="339" r:id="rId10"/>
    <p:sldId id="340" r:id="rId11"/>
    <p:sldId id="344" r:id="rId12"/>
    <p:sldId id="345" r:id="rId13"/>
    <p:sldId id="347" r:id="rId14"/>
    <p:sldId id="346" r:id="rId15"/>
    <p:sldId id="341" r:id="rId16"/>
    <p:sldId id="342" r:id="rId17"/>
    <p:sldId id="343" r:id="rId18"/>
    <p:sldId id="304"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19AE38-882F-1515-E21D-2DA2765CE3A3}" v="2" dt="2026-09-02T10:33:37.143"/>
    <p1510:client id="{BA573E70-4CE7-E3DA-403D-1D1B358A6CED}" v="45" dt="2026-09-02T10:11:53.372"/>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085" autoAdjust="0"/>
    <p:restoredTop sz="95033" autoAdjust="0"/>
  </p:normalViewPr>
  <p:slideViewPr>
    <p:cSldViewPr snapToGrid="0">
      <p:cViewPr>
        <p:scale>
          <a:sx n="75" d="100"/>
          <a:sy n="75" d="100"/>
        </p:scale>
        <p:origin x="878" y="216"/>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5/10/relationships/revisionInfo" Target="revisionInfo.xml"/><Relationship Id="rId3" Type="http://schemas.openxmlformats.org/officeDocument/2006/relationships/customXml" Target="../customXml/item3.xml"/><Relationship Id="rId21"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9/9/2026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9/9/2026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9/9/2026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9/9/2026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9/9/2026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5.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387931" y="3583914"/>
            <a:ext cx="5145121" cy="861497"/>
          </a:xfrm>
        </p:spPr>
        <p:txBody>
          <a:bodyPr vert="horz" lIns="91440" tIns="45720" rIns="91440" bIns="45720" rtlCol="0" anchor="t">
            <a:normAutofit fontScale="85000" lnSpcReduction="10000"/>
          </a:bodyPr>
          <a:lstStyle/>
          <a:p>
            <a:r>
              <a:rPr lang="en-US" b="0" dirty="0">
                <a:solidFill>
                  <a:schemeClr val="tx1"/>
                </a:solidFill>
              </a:rPr>
              <a:t>[Student Name : </a:t>
            </a:r>
            <a:r>
              <a:rPr lang="en-US" dirty="0">
                <a:solidFill>
                  <a:schemeClr val="tx1"/>
                </a:solidFill>
              </a:rPr>
              <a:t>Anupriya</a:t>
            </a:r>
            <a:endParaRPr lang="en-IN" dirty="0">
              <a:solidFill>
                <a:schemeClr val="tx1"/>
              </a:solidFill>
            </a:endParaRPr>
          </a:p>
          <a:p>
            <a:r>
              <a:rPr lang="en-US" b="0" dirty="0">
                <a:solidFill>
                  <a:schemeClr val="tx1"/>
                </a:solidFill>
              </a:rPr>
              <a:t>College Name : </a:t>
            </a:r>
            <a:r>
              <a:rPr lang="en-IN" b="0" dirty="0"/>
              <a:t>Vellore Institute of Technology</a:t>
            </a:r>
            <a:r>
              <a:rPr lang="en-US" b="0" dirty="0">
                <a:solidFill>
                  <a:schemeClr val="tx1"/>
                </a:solidFill>
              </a:rPr>
              <a:t> ]</a:t>
            </a:r>
            <a:endParaRPr lang="en-IN" b="0" dirty="0">
              <a:solidFill>
                <a:schemeClr val="tx1"/>
              </a:solidFill>
            </a:endParaRP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319721" y="2819767"/>
            <a:ext cx="12491209" cy="743448"/>
          </a:xfrm>
        </p:spPr>
        <p:txBody>
          <a:bodyPr>
            <a:normAutofit/>
          </a:bodyPr>
          <a:lstStyle/>
          <a:p>
            <a:r>
              <a:rPr lang="en-GB" sz="3200" b="1" dirty="0"/>
              <a:t>Project Title </a:t>
            </a:r>
            <a:r>
              <a:rPr lang="en-GB" sz="3200" dirty="0"/>
              <a:t>- </a:t>
            </a:r>
            <a:r>
              <a:rPr lang="en-IN" sz="3200" dirty="0"/>
              <a:t>Seasonal Agriculture Performance Analysis</a:t>
            </a:r>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957406" y="4576469"/>
            <a:ext cx="4892888" cy="646331"/>
          </a:xfrm>
          <a:prstGeom prst="rect">
            <a:avLst/>
          </a:prstGeom>
          <a:noFill/>
        </p:spPr>
        <p:txBody>
          <a:bodyPr wrap="square" rtlCol="0">
            <a:spAutoFit/>
          </a:bodyPr>
          <a:lstStyle/>
          <a:p>
            <a:r>
              <a:rPr lang="en-US" b="1" dirty="0"/>
              <a:t>AICTE STU ID : ( </a:t>
            </a:r>
            <a:r>
              <a:rPr lang="en-IN" dirty="0"/>
              <a:t>STU6a0f18aad427b1779374250 </a:t>
            </a:r>
            <a:r>
              <a:rPr lang="en-US" b="1" dirty="0"/>
              <a:t>)</a:t>
            </a:r>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grpId="0" nodeType="clickEffect">
                                  <p:stCondLst>
                                    <p:cond delay="0"/>
                                  </p:stCondLst>
                                  <p:childTnLst>
                                    <p:set>
                                      <p:cBhvr>
                                        <p:cTn id="3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37" dur="500"/>
                                        <p:tgtEl>
                                          <p:spTgt spid="2">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1046480" y="1875556"/>
            <a:ext cx="6431280" cy="3607987"/>
          </a:xfrm>
        </p:spPr>
        <p:txBody>
          <a:bodyPr vert="horz" lIns="91440" tIns="45720" rIns="91440" bIns="45720" rtlCol="0" anchor="t">
            <a:normAutofit fontScale="70000" lnSpcReduction="20000"/>
          </a:bodyPr>
          <a:lstStyle/>
          <a:p>
            <a:pPr>
              <a:lnSpc>
                <a:spcPct val="100000"/>
              </a:lnSpc>
            </a:pPr>
            <a:r>
              <a:rPr lang="en-IN" sz="2800" dirty="0"/>
              <a:t>(</a:t>
            </a:r>
            <a:r>
              <a:rPr lang="en-US" sz="2800" dirty="0"/>
              <a:t>Agricultural activities are influenced by seasonal variations in environmental conditions, farming practices, resource availability and market conditions. As a result, agricultural performance may differ from one season to another. However, raw agricultural data does not clearly explain how agricultural performance changes across seasons or what patterns can be observed in different seasonal conditions. The problem is to analyze the given agricultural dataset and investigate seasonal differences in agricultural performance by identifying meaningful patterns, trends, relationships and variations within the available data.</a:t>
            </a:r>
            <a:endParaRPr lang="en-IN" sz="2800" dirty="0"/>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754602" y="550417"/>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467357" y="737119"/>
            <a:ext cx="6469151" cy="899092"/>
          </a:xfrm>
        </p:spPr>
        <p:txBody>
          <a:bodyPr>
            <a:normAutofit fontScale="90000"/>
          </a:bodyPr>
          <a:lstStyle/>
          <a:p>
            <a:r>
              <a:rPr lang="en-GB" dirty="0"/>
              <a:t>Project Description</a:t>
            </a:r>
            <a:br>
              <a:rPr lang="en-GB" dirty="0"/>
            </a:br>
            <a:endParaRPr lang="en-IN"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
        <p:nvSpPr>
          <p:cNvPr id="2" name="TextBox 1">
            <a:extLst>
              <a:ext uri="{FF2B5EF4-FFF2-40B4-BE49-F238E27FC236}">
                <a16:creationId xmlns:a16="http://schemas.microsoft.com/office/drawing/2014/main" id="{83031390-A417-E931-21A9-8CCACBDCE606}"/>
              </a:ext>
            </a:extLst>
          </p:cNvPr>
          <p:cNvSpPr txBox="1"/>
          <p:nvPr/>
        </p:nvSpPr>
        <p:spPr>
          <a:xfrm>
            <a:off x="467358" y="1636210"/>
            <a:ext cx="11177245" cy="5078313"/>
          </a:xfrm>
          <a:prstGeom prst="rect">
            <a:avLst/>
          </a:prstGeom>
          <a:noFill/>
        </p:spPr>
        <p:txBody>
          <a:bodyPr wrap="square" rtlCol="0">
            <a:spAutoFit/>
          </a:bodyPr>
          <a:lstStyle/>
          <a:p>
            <a:r>
              <a:rPr lang="en-IN" dirty="0"/>
              <a:t>The </a:t>
            </a:r>
            <a:r>
              <a:rPr lang="en-IN" b="1" dirty="0"/>
              <a:t>Seasonal Agriculture Performance Analysis</a:t>
            </a:r>
            <a:r>
              <a:rPr lang="en-IN" dirty="0"/>
              <a:t> project is a data analytics project developed using </a:t>
            </a:r>
            <a:r>
              <a:rPr lang="en-IN" b="1" dirty="0"/>
              <a:t>Python in Google Collab</a:t>
            </a:r>
            <a:r>
              <a:rPr lang="en-IN" dirty="0"/>
              <a:t> to understand how agricultural performance varies across different seasons. The project uses an agricultural dataset containing information about farming activities, environmental conditions, crop production, resource utilization, geographical factors, and economic performance. The analysis begins with importing and examining the dataset using Python libraries such as </a:t>
            </a:r>
            <a:r>
              <a:rPr lang="en-IN" b="1" dirty="0"/>
              <a:t>Pandas and NumPy</a:t>
            </a:r>
            <a:r>
              <a:rPr lang="en-IN" dirty="0"/>
              <a:t>, followed by data cleaning to handle missing values, duplicates, inconsistent data, and unsuitable data types.</a:t>
            </a:r>
          </a:p>
          <a:p>
            <a:r>
              <a:rPr lang="en-IN" dirty="0"/>
              <a:t>Exploratory Data Analysis is then performed using </a:t>
            </a:r>
            <a:r>
              <a:rPr lang="en-IN" b="1" dirty="0"/>
              <a:t>Matplotlib and Seaborn</a:t>
            </a:r>
            <a:r>
              <a:rPr lang="en-IN" dirty="0"/>
              <a:t> to identify seasonal patterns and compare agricultural performance across different periods. The project </a:t>
            </a:r>
            <a:r>
              <a:rPr lang="en-IN" dirty="0" err="1"/>
              <a:t>analyzes</a:t>
            </a:r>
            <a:r>
              <a:rPr lang="en-IN" dirty="0"/>
              <a:t> factors such as crop yield, production, rainfall, temperature, irrigation, fertilizer usage, revenue, cost, and profit wherever available. Different visualization techniques, including bar charts, line graphs, box plots, scatter plots, and heatmaps, are used to present meaningful insights.</a:t>
            </a:r>
          </a:p>
          <a:p>
            <a:r>
              <a:rPr lang="en-IN" dirty="0"/>
              <a:t>Correlation analysis and appropriate statistical techniques are applied to investigate relationships between seasonal conditions and agricultural outcomes. Regional and crop-wise comparisons are also performed to identify variations and unusual patterns. Finally, the project summarizes key findings and provides </a:t>
            </a:r>
            <a:r>
              <a:rPr lang="en-IN" b="1" dirty="0"/>
              <a:t>evidence-based recommendations for better seasonal agricultural planning</a:t>
            </a:r>
            <a:r>
              <a:rPr lang="en-IN" dirty="0"/>
              <a:t>, with the complete analysis documented in a Google </a:t>
            </a:r>
            <a:r>
              <a:rPr lang="en-IN" dirty="0" err="1"/>
              <a:t>Colab</a:t>
            </a:r>
            <a:r>
              <a:rPr lang="en-IN" dirty="0"/>
              <a:t> notebook.</a:t>
            </a:r>
          </a:p>
          <a:p>
            <a:endParaRPr lang="en-IN" dirty="0"/>
          </a:p>
        </p:txBody>
      </p:sp>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4E3B60-2780-459A-8583-F095D5E7463A}"/>
              </a:ext>
            </a:extLst>
          </p:cNvPr>
          <p:cNvSpPr>
            <a:spLocks noGrp="1"/>
          </p:cNvSpPr>
          <p:nvPr>
            <p:ph type="body" sz="quarter" idx="12"/>
          </p:nvPr>
        </p:nvSpPr>
        <p:spPr>
          <a:xfrm>
            <a:off x="394787" y="1679258"/>
            <a:ext cx="10904583" cy="4880162"/>
          </a:xfrm>
        </p:spPr>
        <p:txBody>
          <a:bodyPr>
            <a:normAutofit fontScale="55000" lnSpcReduction="20000"/>
          </a:bodyPr>
          <a:lstStyle/>
          <a:p>
            <a:pPr marL="0" indent="0">
              <a:buNone/>
            </a:pPr>
            <a:r>
              <a:rPr lang="en-IN" sz="3800" dirty="0"/>
              <a:t>The main end users of the </a:t>
            </a:r>
            <a:r>
              <a:rPr lang="en-IN" sz="3800" b="1" dirty="0"/>
              <a:t>Seasonal Agriculture Performance Analysis</a:t>
            </a:r>
            <a:r>
              <a:rPr lang="en-IN" sz="3800" dirty="0"/>
              <a:t> project are:</a:t>
            </a:r>
          </a:p>
          <a:p>
            <a:pPr lvl="0"/>
            <a:r>
              <a:rPr lang="en-IN" sz="3800" b="1" dirty="0"/>
              <a:t>Farmers</a:t>
            </a:r>
            <a:r>
              <a:rPr lang="en-IN" sz="3800" dirty="0"/>
              <a:t> – to understand seasonal crop performance and improve farming decisions. </a:t>
            </a:r>
          </a:p>
          <a:p>
            <a:pPr lvl="0"/>
            <a:r>
              <a:rPr lang="en-IN" sz="3800" b="1" dirty="0"/>
              <a:t>Agricultural planners and experts</a:t>
            </a:r>
            <a:r>
              <a:rPr lang="en-IN" sz="3800" dirty="0"/>
              <a:t> – to identify seasonal trends and plan agricultural activities. </a:t>
            </a:r>
          </a:p>
          <a:p>
            <a:pPr lvl="0"/>
            <a:r>
              <a:rPr lang="en-IN" sz="3800" b="1" dirty="0"/>
              <a:t>Government departments and policymakers</a:t>
            </a:r>
            <a:r>
              <a:rPr lang="en-IN" sz="3800" dirty="0"/>
              <a:t> – to support evidence-based agricultural policies and resource planning. </a:t>
            </a:r>
          </a:p>
          <a:p>
            <a:pPr lvl="0"/>
            <a:r>
              <a:rPr lang="en-IN" sz="3800" b="1" dirty="0"/>
              <a:t>Agricultural researchers</a:t>
            </a:r>
            <a:r>
              <a:rPr lang="en-IN" sz="3800" dirty="0"/>
              <a:t> – to study relationships between environmental conditions, farming practices, and crop outcomes. </a:t>
            </a:r>
          </a:p>
          <a:p>
            <a:pPr lvl="0"/>
            <a:r>
              <a:rPr lang="en-IN" sz="3800" b="1" dirty="0"/>
              <a:t>Agribusinesses and organizations</a:t>
            </a:r>
            <a:r>
              <a:rPr lang="en-IN" sz="3800" dirty="0"/>
              <a:t> – to understand production and economic patterns across seasons. </a:t>
            </a:r>
          </a:p>
          <a:p>
            <a:pPr lvl="0"/>
            <a:r>
              <a:rPr lang="en-IN" sz="3800" b="1" dirty="0"/>
              <a:t>Agricultural students and analysts</a:t>
            </a:r>
            <a:r>
              <a:rPr lang="en-IN" sz="3800" dirty="0"/>
              <a:t> – to explore agricultural data and develop data-driven insights. </a:t>
            </a:r>
          </a:p>
          <a:p>
            <a:r>
              <a:rPr lang="en-IN" sz="3800" b="1" dirty="0"/>
              <a:t>Primary End Users:</a:t>
            </a:r>
            <a:r>
              <a:rPr lang="en-IN" sz="3800" dirty="0"/>
              <a:t> Farmers, agricultural planners, researchers, and government agricultural departments.</a:t>
            </a:r>
          </a:p>
        </p:txBody>
      </p:sp>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1" end="1"/>
                                            </p:txEl>
                                          </p:spTgt>
                                        </p:tgtEl>
                                        <p:attrNameLst>
                                          <p:attrName>style.visibility</p:attrName>
                                        </p:attrNameLst>
                                      </p:cBhvr>
                                      <p:to>
                                        <p:strVal val="visible"/>
                                      </p:to>
                                    </p:set>
                                    <p:animEffect transition="in" filter="fade">
                                      <p:cBhvr>
                                        <p:cTn id="21" dur="1000"/>
                                        <p:tgtEl>
                                          <p:spTgt spid="2">
                                            <p:txEl>
                                              <p:pRg st="1" end="1"/>
                                            </p:txEl>
                                          </p:spTgt>
                                        </p:tgtEl>
                                      </p:cBhvr>
                                    </p:animEffect>
                                    <p:anim calcmode="lin" valueType="num">
                                      <p:cBhvr>
                                        <p:cTn id="22"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2" end="2"/>
                                            </p:txEl>
                                          </p:spTgt>
                                        </p:tgtEl>
                                        <p:attrNameLst>
                                          <p:attrName>style.visibility</p:attrName>
                                        </p:attrNameLst>
                                      </p:cBhvr>
                                      <p:to>
                                        <p:strVal val="visible"/>
                                      </p:to>
                                    </p:set>
                                    <p:animEffect transition="in" filter="fade">
                                      <p:cBhvr>
                                        <p:cTn id="28" dur="1000"/>
                                        <p:tgtEl>
                                          <p:spTgt spid="2">
                                            <p:txEl>
                                              <p:pRg st="2" end="2"/>
                                            </p:txEl>
                                          </p:spTgt>
                                        </p:tgtEl>
                                      </p:cBhvr>
                                    </p:animEffect>
                                    <p:anim calcmode="lin" valueType="num">
                                      <p:cBhvr>
                                        <p:cTn id="29"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2">
                                            <p:txEl>
                                              <p:pRg st="3" end="3"/>
                                            </p:txEl>
                                          </p:spTgt>
                                        </p:tgtEl>
                                        <p:attrNameLst>
                                          <p:attrName>style.visibility</p:attrName>
                                        </p:attrNameLst>
                                      </p:cBhvr>
                                      <p:to>
                                        <p:strVal val="visible"/>
                                      </p:to>
                                    </p:set>
                                    <p:animEffect transition="in" filter="fade">
                                      <p:cBhvr>
                                        <p:cTn id="35" dur="1000"/>
                                        <p:tgtEl>
                                          <p:spTgt spid="2">
                                            <p:txEl>
                                              <p:pRg st="3" end="3"/>
                                            </p:txEl>
                                          </p:spTgt>
                                        </p:tgtEl>
                                      </p:cBhvr>
                                    </p:animEffect>
                                    <p:anim calcmode="lin" valueType="num">
                                      <p:cBhvr>
                                        <p:cTn id="36" dur="1000" fill="hold"/>
                                        <p:tgtEl>
                                          <p:spTgt spid="2">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2">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2">
                                            <p:txEl>
                                              <p:pRg st="4" end="4"/>
                                            </p:txEl>
                                          </p:spTgt>
                                        </p:tgtEl>
                                        <p:attrNameLst>
                                          <p:attrName>style.visibility</p:attrName>
                                        </p:attrNameLst>
                                      </p:cBhvr>
                                      <p:to>
                                        <p:strVal val="visible"/>
                                      </p:to>
                                    </p:set>
                                    <p:animEffect transition="in" filter="fade">
                                      <p:cBhvr>
                                        <p:cTn id="42" dur="1000"/>
                                        <p:tgtEl>
                                          <p:spTgt spid="2">
                                            <p:txEl>
                                              <p:pRg st="4" end="4"/>
                                            </p:txEl>
                                          </p:spTgt>
                                        </p:tgtEl>
                                      </p:cBhvr>
                                    </p:animEffect>
                                    <p:anim calcmode="lin" valueType="num">
                                      <p:cBhvr>
                                        <p:cTn id="43" dur="1000" fill="hold"/>
                                        <p:tgtEl>
                                          <p:spTgt spid="2">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2">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2">
                                            <p:txEl>
                                              <p:pRg st="5" end="5"/>
                                            </p:txEl>
                                          </p:spTgt>
                                        </p:tgtEl>
                                        <p:attrNameLst>
                                          <p:attrName>style.visibility</p:attrName>
                                        </p:attrNameLst>
                                      </p:cBhvr>
                                      <p:to>
                                        <p:strVal val="visible"/>
                                      </p:to>
                                    </p:set>
                                    <p:animEffect transition="in" filter="fade">
                                      <p:cBhvr>
                                        <p:cTn id="49" dur="1000"/>
                                        <p:tgtEl>
                                          <p:spTgt spid="2">
                                            <p:txEl>
                                              <p:pRg st="5" end="5"/>
                                            </p:txEl>
                                          </p:spTgt>
                                        </p:tgtEl>
                                      </p:cBhvr>
                                    </p:animEffect>
                                    <p:anim calcmode="lin" valueType="num">
                                      <p:cBhvr>
                                        <p:cTn id="50" dur="1000" fill="hold"/>
                                        <p:tgtEl>
                                          <p:spTgt spid="2">
                                            <p:txEl>
                                              <p:pRg st="5" end="5"/>
                                            </p:txEl>
                                          </p:spTgt>
                                        </p:tgtEl>
                                        <p:attrNameLst>
                                          <p:attrName>ppt_x</p:attrName>
                                        </p:attrNameLst>
                                      </p:cBhvr>
                                      <p:tavLst>
                                        <p:tav tm="0">
                                          <p:val>
                                            <p:strVal val="#ppt_x"/>
                                          </p:val>
                                        </p:tav>
                                        <p:tav tm="100000">
                                          <p:val>
                                            <p:strVal val="#ppt_x"/>
                                          </p:val>
                                        </p:tav>
                                      </p:tavLst>
                                    </p:anim>
                                    <p:anim calcmode="lin" valueType="num">
                                      <p:cBhvr>
                                        <p:cTn id="51" dur="1000" fill="hold"/>
                                        <p:tgtEl>
                                          <p:spTgt spid="2">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2">
                                            <p:txEl>
                                              <p:pRg st="6" end="6"/>
                                            </p:txEl>
                                          </p:spTgt>
                                        </p:tgtEl>
                                        <p:attrNameLst>
                                          <p:attrName>style.visibility</p:attrName>
                                        </p:attrNameLst>
                                      </p:cBhvr>
                                      <p:to>
                                        <p:strVal val="visible"/>
                                      </p:to>
                                    </p:set>
                                    <p:animEffect transition="in" filter="fade">
                                      <p:cBhvr>
                                        <p:cTn id="56" dur="1000"/>
                                        <p:tgtEl>
                                          <p:spTgt spid="2">
                                            <p:txEl>
                                              <p:pRg st="6" end="6"/>
                                            </p:txEl>
                                          </p:spTgt>
                                        </p:tgtEl>
                                      </p:cBhvr>
                                    </p:animEffect>
                                    <p:anim calcmode="lin" valueType="num">
                                      <p:cBhvr>
                                        <p:cTn id="57" dur="1000" fill="hold"/>
                                        <p:tgtEl>
                                          <p:spTgt spid="2">
                                            <p:txEl>
                                              <p:pRg st="6" end="6"/>
                                            </p:txEl>
                                          </p:spTgt>
                                        </p:tgtEl>
                                        <p:attrNameLst>
                                          <p:attrName>ppt_x</p:attrName>
                                        </p:attrNameLst>
                                      </p:cBhvr>
                                      <p:tavLst>
                                        <p:tav tm="0">
                                          <p:val>
                                            <p:strVal val="#ppt_x"/>
                                          </p:val>
                                        </p:tav>
                                        <p:tav tm="100000">
                                          <p:val>
                                            <p:strVal val="#ppt_x"/>
                                          </p:val>
                                        </p:tav>
                                      </p:tavLst>
                                    </p:anim>
                                    <p:anim calcmode="lin" valueType="num">
                                      <p:cBhvr>
                                        <p:cTn id="58" dur="1000" fill="hold"/>
                                        <p:tgtEl>
                                          <p:spTgt spid="2">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42" presetClass="entr" presetSubtype="0" fill="hold" grpId="0" nodeType="clickEffect">
                                  <p:stCondLst>
                                    <p:cond delay="0"/>
                                  </p:stCondLst>
                                  <p:childTnLst>
                                    <p:set>
                                      <p:cBhvr>
                                        <p:cTn id="62" dur="1" fill="hold">
                                          <p:stCondLst>
                                            <p:cond delay="0"/>
                                          </p:stCondLst>
                                        </p:cTn>
                                        <p:tgtEl>
                                          <p:spTgt spid="2">
                                            <p:txEl>
                                              <p:pRg st="7" end="7"/>
                                            </p:txEl>
                                          </p:spTgt>
                                        </p:tgtEl>
                                        <p:attrNameLst>
                                          <p:attrName>style.visibility</p:attrName>
                                        </p:attrNameLst>
                                      </p:cBhvr>
                                      <p:to>
                                        <p:strVal val="visible"/>
                                      </p:to>
                                    </p:set>
                                    <p:animEffect transition="in" filter="fade">
                                      <p:cBhvr>
                                        <p:cTn id="63" dur="1000"/>
                                        <p:tgtEl>
                                          <p:spTgt spid="2">
                                            <p:txEl>
                                              <p:pRg st="7" end="7"/>
                                            </p:txEl>
                                          </p:spTgt>
                                        </p:tgtEl>
                                      </p:cBhvr>
                                    </p:animEffect>
                                    <p:anim calcmode="lin" valueType="num">
                                      <p:cBhvr>
                                        <p:cTn id="64" dur="1000" fill="hold"/>
                                        <p:tgtEl>
                                          <p:spTgt spid="2">
                                            <p:txEl>
                                              <p:pRg st="7" end="7"/>
                                            </p:txEl>
                                          </p:spTgt>
                                        </p:tgtEl>
                                        <p:attrNameLst>
                                          <p:attrName>ppt_x</p:attrName>
                                        </p:attrNameLst>
                                      </p:cBhvr>
                                      <p:tavLst>
                                        <p:tav tm="0">
                                          <p:val>
                                            <p:strVal val="#ppt_x"/>
                                          </p:val>
                                        </p:tav>
                                        <p:tav tm="100000">
                                          <p:val>
                                            <p:strVal val="#ppt_x"/>
                                          </p:val>
                                        </p:tav>
                                      </p:tavLst>
                                    </p:anim>
                                    <p:anim calcmode="lin" valueType="num">
                                      <p:cBhvr>
                                        <p:cTn id="65" dur="1000" fill="hold"/>
                                        <p:tgtEl>
                                          <p:spTgt spid="2">
                                            <p:txEl>
                                              <p:pRg st="7" end="7"/>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7" name="Text Placeholder 6">
            <a:extLst>
              <a:ext uri="{FF2B5EF4-FFF2-40B4-BE49-F238E27FC236}">
                <a16:creationId xmlns:a16="http://schemas.microsoft.com/office/drawing/2014/main" id="{B21C28F5-3CA3-4B78-B5C9-550C00BB3174}"/>
              </a:ext>
            </a:extLst>
          </p:cNvPr>
          <p:cNvSpPr>
            <a:spLocks noGrp="1"/>
          </p:cNvSpPr>
          <p:nvPr>
            <p:ph type="body" sz="quarter" idx="12"/>
          </p:nvPr>
        </p:nvSpPr>
        <p:spPr>
          <a:xfrm>
            <a:off x="1267696" y="1530220"/>
            <a:ext cx="9027702" cy="5145788"/>
          </a:xfrm>
        </p:spPr>
        <p:txBody>
          <a:bodyPr/>
          <a:lstStyle/>
          <a:p>
            <a:pPr lvl="0"/>
            <a:r>
              <a:rPr lang="en-IN" b="1" dirty="0"/>
              <a:t>Google Collab</a:t>
            </a:r>
            <a:r>
              <a:rPr lang="en-IN" dirty="0"/>
              <a:t> – Development and execution environment. </a:t>
            </a:r>
          </a:p>
          <a:p>
            <a:pPr lvl="0"/>
            <a:r>
              <a:rPr lang="en-IN" b="1" dirty="0"/>
              <a:t>Python</a:t>
            </a:r>
            <a:r>
              <a:rPr lang="en-IN" dirty="0"/>
              <a:t> – Programming language used for data analysis. </a:t>
            </a:r>
          </a:p>
          <a:p>
            <a:pPr lvl="0"/>
            <a:r>
              <a:rPr lang="en-IN" b="1" dirty="0"/>
              <a:t>Pandas</a:t>
            </a:r>
            <a:r>
              <a:rPr lang="en-IN" dirty="0"/>
              <a:t> – Data cleaning, manipulation, and analysis. </a:t>
            </a:r>
          </a:p>
          <a:p>
            <a:pPr lvl="0"/>
            <a:r>
              <a:rPr lang="en-IN" b="1" dirty="0"/>
              <a:t>NumPy</a:t>
            </a:r>
            <a:r>
              <a:rPr lang="en-IN" dirty="0"/>
              <a:t> – Numerical computations and data processing. </a:t>
            </a:r>
          </a:p>
          <a:p>
            <a:pPr lvl="0"/>
            <a:r>
              <a:rPr lang="en-IN" b="1" dirty="0"/>
              <a:t>Matplotlib</a:t>
            </a:r>
            <a:r>
              <a:rPr lang="en-IN" dirty="0"/>
              <a:t> – Data visualization and graphical representation. </a:t>
            </a:r>
          </a:p>
          <a:p>
            <a:pPr lvl="0"/>
            <a:r>
              <a:rPr lang="en-IN" b="1" dirty="0"/>
              <a:t>Seaborn</a:t>
            </a:r>
            <a:r>
              <a:rPr lang="en-IN" dirty="0"/>
              <a:t> – Statistical visualizations and trend analysis. </a:t>
            </a:r>
          </a:p>
          <a:p>
            <a:pPr lvl="0"/>
            <a:r>
              <a:rPr lang="en-IN" b="1" dirty="0"/>
              <a:t>SciPy</a:t>
            </a:r>
            <a:r>
              <a:rPr lang="en-IN" dirty="0"/>
              <a:t> – Statistical analysis and hypothesis testing.</a:t>
            </a:r>
          </a:p>
          <a:p>
            <a:pPr lvl="1">
              <a:lnSpc>
                <a:spcPct val="150000"/>
              </a:lnSpc>
            </a:pPr>
            <a:endParaRPr lang="en-IN" dirty="0"/>
          </a:p>
        </p:txBody>
      </p:sp>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567093" y="449229"/>
            <a:ext cx="5306291" cy="847817"/>
          </a:xfrm>
        </p:spPr>
        <p:txBody>
          <a:bodyPr>
            <a:normAutofit/>
          </a:bodyPr>
          <a:lstStyle/>
          <a:p>
            <a:r>
              <a:rPr lang="en-US" dirty="0"/>
              <a:t>Technology Used</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7">
                                            <p:txEl>
                                              <p:pRg st="1" end="1"/>
                                            </p:txEl>
                                          </p:spTgt>
                                        </p:tgtEl>
                                        <p:attrNameLst>
                                          <p:attrName>style.visibility</p:attrName>
                                        </p:attrNameLst>
                                      </p:cBhvr>
                                      <p:to>
                                        <p:strVal val="visible"/>
                                      </p:to>
                                    </p:set>
                                    <p:animEffect transition="in" filter="fade">
                                      <p:cBhvr>
                                        <p:cTn id="21" dur="1000"/>
                                        <p:tgtEl>
                                          <p:spTgt spid="7">
                                            <p:txEl>
                                              <p:pRg st="1" end="1"/>
                                            </p:txEl>
                                          </p:spTgt>
                                        </p:tgtEl>
                                      </p:cBhvr>
                                    </p:animEffect>
                                    <p:anim calcmode="lin" valueType="num">
                                      <p:cBhvr>
                                        <p:cTn id="22"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7">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7">
                                            <p:txEl>
                                              <p:pRg st="2" end="2"/>
                                            </p:txEl>
                                          </p:spTgt>
                                        </p:tgtEl>
                                        <p:attrNameLst>
                                          <p:attrName>style.visibility</p:attrName>
                                        </p:attrNameLst>
                                      </p:cBhvr>
                                      <p:to>
                                        <p:strVal val="visible"/>
                                      </p:to>
                                    </p:set>
                                    <p:animEffect transition="in" filter="fade">
                                      <p:cBhvr>
                                        <p:cTn id="28" dur="1000"/>
                                        <p:tgtEl>
                                          <p:spTgt spid="7">
                                            <p:txEl>
                                              <p:pRg st="2" end="2"/>
                                            </p:txEl>
                                          </p:spTgt>
                                        </p:tgtEl>
                                      </p:cBhvr>
                                    </p:animEffect>
                                    <p:anim calcmode="lin" valueType="num">
                                      <p:cBhvr>
                                        <p:cTn id="29"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7">
                                            <p:txEl>
                                              <p:pRg st="3" end="3"/>
                                            </p:txEl>
                                          </p:spTgt>
                                        </p:tgtEl>
                                        <p:attrNameLst>
                                          <p:attrName>style.visibility</p:attrName>
                                        </p:attrNameLst>
                                      </p:cBhvr>
                                      <p:to>
                                        <p:strVal val="visible"/>
                                      </p:to>
                                    </p:set>
                                    <p:animEffect transition="in" filter="fade">
                                      <p:cBhvr>
                                        <p:cTn id="35" dur="1000"/>
                                        <p:tgtEl>
                                          <p:spTgt spid="7">
                                            <p:txEl>
                                              <p:pRg st="3" end="3"/>
                                            </p:txEl>
                                          </p:spTgt>
                                        </p:tgtEl>
                                      </p:cBhvr>
                                    </p:animEffect>
                                    <p:anim calcmode="lin" valueType="num">
                                      <p:cBhvr>
                                        <p:cTn id="36"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7">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7">
                                            <p:txEl>
                                              <p:pRg st="4" end="4"/>
                                            </p:txEl>
                                          </p:spTgt>
                                        </p:tgtEl>
                                        <p:attrNameLst>
                                          <p:attrName>style.visibility</p:attrName>
                                        </p:attrNameLst>
                                      </p:cBhvr>
                                      <p:to>
                                        <p:strVal val="visible"/>
                                      </p:to>
                                    </p:set>
                                    <p:animEffect transition="in" filter="fade">
                                      <p:cBhvr>
                                        <p:cTn id="42" dur="1000"/>
                                        <p:tgtEl>
                                          <p:spTgt spid="7">
                                            <p:txEl>
                                              <p:pRg st="4" end="4"/>
                                            </p:txEl>
                                          </p:spTgt>
                                        </p:tgtEl>
                                      </p:cBhvr>
                                    </p:animEffect>
                                    <p:anim calcmode="lin" valueType="num">
                                      <p:cBhvr>
                                        <p:cTn id="43"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7">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7">
                                            <p:txEl>
                                              <p:pRg st="5" end="5"/>
                                            </p:txEl>
                                          </p:spTgt>
                                        </p:tgtEl>
                                        <p:attrNameLst>
                                          <p:attrName>style.visibility</p:attrName>
                                        </p:attrNameLst>
                                      </p:cBhvr>
                                      <p:to>
                                        <p:strVal val="visible"/>
                                      </p:to>
                                    </p:set>
                                    <p:animEffect transition="in" filter="fade">
                                      <p:cBhvr>
                                        <p:cTn id="49" dur="1000"/>
                                        <p:tgtEl>
                                          <p:spTgt spid="7">
                                            <p:txEl>
                                              <p:pRg st="5" end="5"/>
                                            </p:txEl>
                                          </p:spTgt>
                                        </p:tgtEl>
                                      </p:cBhvr>
                                    </p:animEffect>
                                    <p:anim calcmode="lin" valueType="num">
                                      <p:cBhvr>
                                        <p:cTn id="50" dur="1000" fill="hold"/>
                                        <p:tgtEl>
                                          <p:spTgt spid="7">
                                            <p:txEl>
                                              <p:pRg st="5" end="5"/>
                                            </p:txEl>
                                          </p:spTgt>
                                        </p:tgtEl>
                                        <p:attrNameLst>
                                          <p:attrName>ppt_x</p:attrName>
                                        </p:attrNameLst>
                                      </p:cBhvr>
                                      <p:tavLst>
                                        <p:tav tm="0">
                                          <p:val>
                                            <p:strVal val="#ppt_x"/>
                                          </p:val>
                                        </p:tav>
                                        <p:tav tm="100000">
                                          <p:val>
                                            <p:strVal val="#ppt_x"/>
                                          </p:val>
                                        </p:tav>
                                      </p:tavLst>
                                    </p:anim>
                                    <p:anim calcmode="lin" valueType="num">
                                      <p:cBhvr>
                                        <p:cTn id="51" dur="1000" fill="hold"/>
                                        <p:tgtEl>
                                          <p:spTgt spid="7">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7">
                                            <p:txEl>
                                              <p:pRg st="6" end="6"/>
                                            </p:txEl>
                                          </p:spTgt>
                                        </p:tgtEl>
                                        <p:attrNameLst>
                                          <p:attrName>style.visibility</p:attrName>
                                        </p:attrNameLst>
                                      </p:cBhvr>
                                      <p:to>
                                        <p:strVal val="visible"/>
                                      </p:to>
                                    </p:set>
                                    <p:animEffect transition="in" filter="fade">
                                      <p:cBhvr>
                                        <p:cTn id="56" dur="1000"/>
                                        <p:tgtEl>
                                          <p:spTgt spid="7">
                                            <p:txEl>
                                              <p:pRg st="6" end="6"/>
                                            </p:txEl>
                                          </p:spTgt>
                                        </p:tgtEl>
                                      </p:cBhvr>
                                    </p:animEffect>
                                    <p:anim calcmode="lin" valueType="num">
                                      <p:cBhvr>
                                        <p:cTn id="57" dur="1000" fill="hold"/>
                                        <p:tgtEl>
                                          <p:spTgt spid="7">
                                            <p:txEl>
                                              <p:pRg st="6" end="6"/>
                                            </p:txEl>
                                          </p:spTgt>
                                        </p:tgtEl>
                                        <p:attrNameLst>
                                          <p:attrName>ppt_x</p:attrName>
                                        </p:attrNameLst>
                                      </p:cBhvr>
                                      <p:tavLst>
                                        <p:tav tm="0">
                                          <p:val>
                                            <p:strVal val="#ppt_x"/>
                                          </p:val>
                                        </p:tav>
                                        <p:tav tm="100000">
                                          <p:val>
                                            <p:strVal val="#ppt_x"/>
                                          </p:val>
                                        </p:tav>
                                      </p:tavLst>
                                    </p:anim>
                                    <p:anim calcmode="lin" valueType="num">
                                      <p:cBhvr>
                                        <p:cTn id="58" dur="1000" fill="hold"/>
                                        <p:tgtEl>
                                          <p:spTgt spid="7">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DA7BE48C-3A5B-65FA-B7AB-16A381D744D4}"/>
              </a:ext>
            </a:extLst>
          </p:cNvPr>
          <p:cNvPicPr>
            <a:picLocks noChangeAspect="1"/>
          </p:cNvPicPr>
          <p:nvPr/>
        </p:nvPicPr>
        <p:blipFill>
          <a:blip r:embed="rId3"/>
          <a:stretch>
            <a:fillRect/>
          </a:stretch>
        </p:blipFill>
        <p:spPr>
          <a:xfrm>
            <a:off x="4345694" y="1449931"/>
            <a:ext cx="6569009" cy="4648603"/>
          </a:xfrm>
          <a:prstGeom prst="rect">
            <a:avLst/>
          </a:prstGeom>
        </p:spPr>
      </p:pic>
      <p:sp>
        <p:nvSpPr>
          <p:cNvPr id="6" name="TextBox 5">
            <a:extLst>
              <a:ext uri="{FF2B5EF4-FFF2-40B4-BE49-F238E27FC236}">
                <a16:creationId xmlns:a16="http://schemas.microsoft.com/office/drawing/2014/main" id="{0E326818-1CF0-3DAF-3D62-7DA91748F751}"/>
              </a:ext>
            </a:extLst>
          </p:cNvPr>
          <p:cNvSpPr txBox="1"/>
          <p:nvPr/>
        </p:nvSpPr>
        <p:spPr>
          <a:xfrm>
            <a:off x="675957" y="1449931"/>
            <a:ext cx="3765414" cy="4801314"/>
          </a:xfrm>
          <a:prstGeom prst="rect">
            <a:avLst/>
          </a:prstGeom>
          <a:noFill/>
        </p:spPr>
        <p:txBody>
          <a:bodyPr wrap="square" rtlCol="0">
            <a:spAutoFit/>
          </a:bodyPr>
          <a:lstStyle/>
          <a:p>
            <a:r>
              <a:rPr lang="en-IN" dirty="0"/>
              <a:t>The graph shows the </a:t>
            </a:r>
            <a:r>
              <a:rPr lang="en-IN" b="1" dirty="0"/>
              <a:t>distribution of agricultural records across seasons</a:t>
            </a:r>
            <a:r>
              <a:rPr lang="en-IN" dirty="0"/>
              <a:t>:</a:t>
            </a:r>
          </a:p>
          <a:p>
            <a:pPr lvl="0"/>
            <a:r>
              <a:rPr lang="en-IN" b="1" dirty="0"/>
              <a:t>Kharif</a:t>
            </a:r>
            <a:r>
              <a:rPr lang="en-IN" dirty="0"/>
              <a:t> has the highest number of records, around </a:t>
            </a:r>
            <a:r>
              <a:rPr lang="en-IN" b="1" dirty="0"/>
              <a:t>1,770</a:t>
            </a:r>
            <a:r>
              <a:rPr lang="en-IN" dirty="0"/>
              <a:t>. </a:t>
            </a:r>
          </a:p>
          <a:p>
            <a:pPr lvl="0"/>
            <a:r>
              <a:rPr lang="en-IN" b="1" dirty="0"/>
              <a:t>Rabi</a:t>
            </a:r>
            <a:r>
              <a:rPr lang="en-IN" dirty="0"/>
              <a:t> has around </a:t>
            </a:r>
            <a:r>
              <a:rPr lang="en-IN" b="1" dirty="0"/>
              <a:t>1,620</a:t>
            </a:r>
            <a:r>
              <a:rPr lang="en-IN" dirty="0"/>
              <a:t> records. </a:t>
            </a:r>
          </a:p>
          <a:p>
            <a:pPr lvl="0"/>
            <a:r>
              <a:rPr lang="en-IN" b="1" dirty="0"/>
              <a:t>Zaid</a:t>
            </a:r>
            <a:r>
              <a:rPr lang="en-IN" dirty="0"/>
              <a:t> has the lowest, with around </a:t>
            </a:r>
            <a:r>
              <a:rPr lang="en-IN" b="1" dirty="0"/>
              <a:t>590</a:t>
            </a:r>
            <a:r>
              <a:rPr lang="en-IN" dirty="0"/>
              <a:t> records. </a:t>
            </a:r>
          </a:p>
          <a:p>
            <a:pPr lvl="0"/>
            <a:endParaRPr lang="en-IN" dirty="0"/>
          </a:p>
          <a:p>
            <a:r>
              <a:rPr lang="en-IN" b="1" dirty="0"/>
              <a:t>Interpretation:</a:t>
            </a:r>
            <a:r>
              <a:rPr lang="en-IN" dirty="0"/>
              <a:t> The dataset contains significantly more Kharif and Rabi observations than Zaid observations, so seasonal comparisons involving Zaid should be interpreted carefully due to its smaller sample size.</a:t>
            </a:r>
          </a:p>
          <a:p>
            <a:endParaRPr lang="en-IN" dirty="0"/>
          </a:p>
        </p:txBody>
      </p:sp>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3A64DB11-806F-1A4C-E0D5-D745D29CED50}"/>
              </a:ext>
            </a:extLst>
          </p:cNvPr>
          <p:cNvSpPr>
            <a:spLocks noGrp="1"/>
          </p:cNvSpPr>
          <p:nvPr>
            <p:ph type="body" sz="quarter" idx="12"/>
          </p:nvPr>
        </p:nvSpPr>
        <p:spPr>
          <a:xfrm>
            <a:off x="807163" y="1431693"/>
            <a:ext cx="3624877" cy="4610500"/>
          </a:xfrm>
        </p:spPr>
        <p:txBody>
          <a:bodyPr>
            <a:normAutofit fontScale="77500" lnSpcReduction="20000"/>
          </a:bodyPr>
          <a:lstStyle/>
          <a:p>
            <a:r>
              <a:rPr lang="en-IN" dirty="0"/>
              <a:t>The graph shows the </a:t>
            </a:r>
            <a:r>
              <a:rPr lang="en-IN" b="1" dirty="0"/>
              <a:t>distribution of rainfall</a:t>
            </a:r>
            <a:r>
              <a:rPr lang="en-IN" dirty="0"/>
              <a:t> in the dataset:</a:t>
            </a:r>
          </a:p>
          <a:p>
            <a:pPr lvl="0"/>
            <a:r>
              <a:rPr lang="en-IN" dirty="0"/>
              <a:t>Rainfall values range approximately from </a:t>
            </a:r>
            <a:r>
              <a:rPr lang="en-IN" b="1" dirty="0"/>
              <a:t>100 mm to 1,400 mm</a:t>
            </a:r>
            <a:r>
              <a:rPr lang="en-IN" dirty="0"/>
              <a:t>. </a:t>
            </a:r>
          </a:p>
          <a:p>
            <a:pPr lvl="0"/>
            <a:r>
              <a:rPr lang="en-IN" dirty="0"/>
              <a:t>Most observations are concentrated between </a:t>
            </a:r>
            <a:r>
              <a:rPr lang="en-IN" b="1" dirty="0"/>
              <a:t>300 mm and 1,000 mm</a:t>
            </a:r>
            <a:r>
              <a:rPr lang="en-IN" dirty="0"/>
              <a:t>. </a:t>
            </a:r>
          </a:p>
          <a:p>
            <a:pPr lvl="0"/>
            <a:r>
              <a:rPr lang="en-IN" dirty="0"/>
              <a:t>The highest frequency is around </a:t>
            </a:r>
            <a:r>
              <a:rPr lang="en-IN" b="1" dirty="0"/>
              <a:t>500–600 mm</a:t>
            </a:r>
            <a:r>
              <a:rPr lang="en-IN" dirty="0"/>
              <a:t>. </a:t>
            </a:r>
          </a:p>
          <a:p>
            <a:pPr lvl="0"/>
            <a:r>
              <a:rPr lang="en-IN" dirty="0"/>
              <a:t>Very high rainfall values above </a:t>
            </a:r>
            <a:r>
              <a:rPr lang="en-IN" b="1" dirty="0"/>
              <a:t>1,200 mm</a:t>
            </a:r>
            <a:r>
              <a:rPr lang="en-IN" dirty="0"/>
              <a:t> occur less frequently.</a:t>
            </a:r>
          </a:p>
          <a:p>
            <a:pPr marL="0" lvl="0" indent="0">
              <a:buNone/>
            </a:pPr>
            <a:r>
              <a:rPr lang="en-IN" dirty="0"/>
              <a:t> </a:t>
            </a:r>
          </a:p>
          <a:p>
            <a:r>
              <a:rPr lang="en-IN" b="1" dirty="0"/>
              <a:t>Interpretation:</a:t>
            </a:r>
            <a:r>
              <a:rPr lang="en-IN" dirty="0"/>
              <a:t> Rainfall varies considerably across the agricultural records, with most farms experiencing moderate rainfall levels.</a:t>
            </a:r>
          </a:p>
        </p:txBody>
      </p:sp>
      <p:pic>
        <p:nvPicPr>
          <p:cNvPr id="6" name="Picture 5">
            <a:extLst>
              <a:ext uri="{FF2B5EF4-FFF2-40B4-BE49-F238E27FC236}">
                <a16:creationId xmlns:a16="http://schemas.microsoft.com/office/drawing/2014/main" id="{D110E65D-AA2C-7957-D726-341E55D9C188}"/>
              </a:ext>
            </a:extLst>
          </p:cNvPr>
          <p:cNvPicPr>
            <a:picLocks noChangeAspect="1"/>
          </p:cNvPicPr>
          <p:nvPr/>
        </p:nvPicPr>
        <p:blipFill>
          <a:blip r:embed="rId3"/>
          <a:srcRect l="1155"/>
          <a:stretch>
            <a:fillRect/>
          </a:stretch>
        </p:blipFill>
        <p:spPr>
          <a:xfrm>
            <a:off x="4432040" y="1431693"/>
            <a:ext cx="7389521" cy="4610500"/>
          </a:xfrm>
          <a:prstGeom prst="rect">
            <a:avLst/>
          </a:prstGeom>
        </p:spPr>
      </p:pic>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10">
                                            <p:txEl>
                                              <p:pRg st="1" end="1"/>
                                            </p:txEl>
                                          </p:spTgt>
                                        </p:tgtEl>
                                        <p:attrNameLst>
                                          <p:attrName>style.visibility</p:attrName>
                                        </p:attrNameLst>
                                      </p:cBhvr>
                                      <p:to>
                                        <p:strVal val="visible"/>
                                      </p:to>
                                    </p:set>
                                    <p:animEffect transition="in" filter="fade">
                                      <p:cBhvr>
                                        <p:cTn id="35" dur="1000"/>
                                        <p:tgtEl>
                                          <p:spTgt spid="10">
                                            <p:txEl>
                                              <p:pRg st="1" end="1"/>
                                            </p:txEl>
                                          </p:spTgt>
                                        </p:tgtEl>
                                      </p:cBhvr>
                                    </p:animEffect>
                                    <p:anim calcmode="lin" valueType="num">
                                      <p:cBhvr>
                                        <p:cTn id="36" dur="1000" fill="hold"/>
                                        <p:tgtEl>
                                          <p:spTgt spid="10">
                                            <p:txEl>
                                              <p:pRg st="1" end="1"/>
                                            </p:txEl>
                                          </p:spTgt>
                                        </p:tgtEl>
                                        <p:attrNameLst>
                                          <p:attrName>ppt_x</p:attrName>
                                        </p:attrNameLst>
                                      </p:cBhvr>
                                      <p:tavLst>
                                        <p:tav tm="0">
                                          <p:val>
                                            <p:strVal val="#ppt_x"/>
                                          </p:val>
                                        </p:tav>
                                        <p:tav tm="100000">
                                          <p:val>
                                            <p:strVal val="#ppt_x"/>
                                          </p:val>
                                        </p:tav>
                                      </p:tavLst>
                                    </p:anim>
                                    <p:anim calcmode="lin" valueType="num">
                                      <p:cBhvr>
                                        <p:cTn id="37" dur="1000" fill="hold"/>
                                        <p:tgtEl>
                                          <p:spTgt spid="10">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10">
                                            <p:txEl>
                                              <p:pRg st="2" end="2"/>
                                            </p:txEl>
                                          </p:spTgt>
                                        </p:tgtEl>
                                        <p:attrNameLst>
                                          <p:attrName>style.visibility</p:attrName>
                                        </p:attrNameLst>
                                      </p:cBhvr>
                                      <p:to>
                                        <p:strVal val="visible"/>
                                      </p:to>
                                    </p:set>
                                    <p:animEffect transition="in" filter="fade">
                                      <p:cBhvr>
                                        <p:cTn id="42" dur="1000"/>
                                        <p:tgtEl>
                                          <p:spTgt spid="10">
                                            <p:txEl>
                                              <p:pRg st="2" end="2"/>
                                            </p:txEl>
                                          </p:spTgt>
                                        </p:tgtEl>
                                      </p:cBhvr>
                                    </p:animEffect>
                                    <p:anim calcmode="lin" valueType="num">
                                      <p:cBhvr>
                                        <p:cTn id="43" dur="1000" fill="hold"/>
                                        <p:tgtEl>
                                          <p:spTgt spid="10">
                                            <p:txEl>
                                              <p:pRg st="2" end="2"/>
                                            </p:txEl>
                                          </p:spTgt>
                                        </p:tgtEl>
                                        <p:attrNameLst>
                                          <p:attrName>ppt_x</p:attrName>
                                        </p:attrNameLst>
                                      </p:cBhvr>
                                      <p:tavLst>
                                        <p:tav tm="0">
                                          <p:val>
                                            <p:strVal val="#ppt_x"/>
                                          </p:val>
                                        </p:tav>
                                        <p:tav tm="100000">
                                          <p:val>
                                            <p:strVal val="#ppt_x"/>
                                          </p:val>
                                        </p:tav>
                                      </p:tavLst>
                                    </p:anim>
                                    <p:anim calcmode="lin" valueType="num">
                                      <p:cBhvr>
                                        <p:cTn id="44" dur="1000" fill="hold"/>
                                        <p:tgtEl>
                                          <p:spTgt spid="10">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10">
                                            <p:txEl>
                                              <p:pRg st="3" end="3"/>
                                            </p:txEl>
                                          </p:spTgt>
                                        </p:tgtEl>
                                        <p:attrNameLst>
                                          <p:attrName>style.visibility</p:attrName>
                                        </p:attrNameLst>
                                      </p:cBhvr>
                                      <p:to>
                                        <p:strVal val="visible"/>
                                      </p:to>
                                    </p:set>
                                    <p:animEffect transition="in" filter="fade">
                                      <p:cBhvr>
                                        <p:cTn id="49" dur="1000"/>
                                        <p:tgtEl>
                                          <p:spTgt spid="10">
                                            <p:txEl>
                                              <p:pRg st="3" end="3"/>
                                            </p:txEl>
                                          </p:spTgt>
                                        </p:tgtEl>
                                      </p:cBhvr>
                                    </p:animEffect>
                                    <p:anim calcmode="lin" valueType="num">
                                      <p:cBhvr>
                                        <p:cTn id="50" dur="1000" fill="hold"/>
                                        <p:tgtEl>
                                          <p:spTgt spid="10">
                                            <p:txEl>
                                              <p:pRg st="3" end="3"/>
                                            </p:txEl>
                                          </p:spTgt>
                                        </p:tgtEl>
                                        <p:attrNameLst>
                                          <p:attrName>ppt_x</p:attrName>
                                        </p:attrNameLst>
                                      </p:cBhvr>
                                      <p:tavLst>
                                        <p:tav tm="0">
                                          <p:val>
                                            <p:strVal val="#ppt_x"/>
                                          </p:val>
                                        </p:tav>
                                        <p:tav tm="100000">
                                          <p:val>
                                            <p:strVal val="#ppt_x"/>
                                          </p:val>
                                        </p:tav>
                                      </p:tavLst>
                                    </p:anim>
                                    <p:anim calcmode="lin" valueType="num">
                                      <p:cBhvr>
                                        <p:cTn id="51" dur="1000" fill="hold"/>
                                        <p:tgtEl>
                                          <p:spTgt spid="10">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10">
                                            <p:txEl>
                                              <p:pRg st="4" end="4"/>
                                            </p:txEl>
                                          </p:spTgt>
                                        </p:tgtEl>
                                        <p:attrNameLst>
                                          <p:attrName>style.visibility</p:attrName>
                                        </p:attrNameLst>
                                      </p:cBhvr>
                                      <p:to>
                                        <p:strVal val="visible"/>
                                      </p:to>
                                    </p:set>
                                    <p:animEffect transition="in" filter="fade">
                                      <p:cBhvr>
                                        <p:cTn id="56" dur="1000"/>
                                        <p:tgtEl>
                                          <p:spTgt spid="10">
                                            <p:txEl>
                                              <p:pRg st="4" end="4"/>
                                            </p:txEl>
                                          </p:spTgt>
                                        </p:tgtEl>
                                      </p:cBhvr>
                                    </p:animEffect>
                                    <p:anim calcmode="lin" valueType="num">
                                      <p:cBhvr>
                                        <p:cTn id="57" dur="1000" fill="hold"/>
                                        <p:tgtEl>
                                          <p:spTgt spid="10">
                                            <p:txEl>
                                              <p:pRg st="4" end="4"/>
                                            </p:txEl>
                                          </p:spTgt>
                                        </p:tgtEl>
                                        <p:attrNameLst>
                                          <p:attrName>ppt_x</p:attrName>
                                        </p:attrNameLst>
                                      </p:cBhvr>
                                      <p:tavLst>
                                        <p:tav tm="0">
                                          <p:val>
                                            <p:strVal val="#ppt_x"/>
                                          </p:val>
                                        </p:tav>
                                        <p:tav tm="100000">
                                          <p:val>
                                            <p:strVal val="#ppt_x"/>
                                          </p:val>
                                        </p:tav>
                                      </p:tavLst>
                                    </p:anim>
                                    <p:anim calcmode="lin" valueType="num">
                                      <p:cBhvr>
                                        <p:cTn id="58" dur="1000" fill="hold"/>
                                        <p:tgtEl>
                                          <p:spTgt spid="10">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42" presetClass="entr" presetSubtype="0" fill="hold" grpId="0" nodeType="clickEffect">
                                  <p:stCondLst>
                                    <p:cond delay="0"/>
                                  </p:stCondLst>
                                  <p:childTnLst>
                                    <p:set>
                                      <p:cBhvr>
                                        <p:cTn id="62" dur="1" fill="hold">
                                          <p:stCondLst>
                                            <p:cond delay="0"/>
                                          </p:stCondLst>
                                        </p:cTn>
                                        <p:tgtEl>
                                          <p:spTgt spid="10">
                                            <p:txEl>
                                              <p:pRg st="5" end="5"/>
                                            </p:txEl>
                                          </p:spTgt>
                                        </p:tgtEl>
                                        <p:attrNameLst>
                                          <p:attrName>style.visibility</p:attrName>
                                        </p:attrNameLst>
                                      </p:cBhvr>
                                      <p:to>
                                        <p:strVal val="visible"/>
                                      </p:to>
                                    </p:set>
                                    <p:animEffect transition="in" filter="fade">
                                      <p:cBhvr>
                                        <p:cTn id="63" dur="1000"/>
                                        <p:tgtEl>
                                          <p:spTgt spid="10">
                                            <p:txEl>
                                              <p:pRg st="5" end="5"/>
                                            </p:txEl>
                                          </p:spTgt>
                                        </p:tgtEl>
                                      </p:cBhvr>
                                    </p:animEffect>
                                    <p:anim calcmode="lin" valueType="num">
                                      <p:cBhvr>
                                        <p:cTn id="64" dur="1000" fill="hold"/>
                                        <p:tgtEl>
                                          <p:spTgt spid="10">
                                            <p:txEl>
                                              <p:pRg st="5" end="5"/>
                                            </p:txEl>
                                          </p:spTgt>
                                        </p:tgtEl>
                                        <p:attrNameLst>
                                          <p:attrName>ppt_x</p:attrName>
                                        </p:attrNameLst>
                                      </p:cBhvr>
                                      <p:tavLst>
                                        <p:tav tm="0">
                                          <p:val>
                                            <p:strVal val="#ppt_x"/>
                                          </p:val>
                                        </p:tav>
                                        <p:tav tm="100000">
                                          <p:val>
                                            <p:strVal val="#ppt_x"/>
                                          </p:val>
                                        </p:tav>
                                      </p:tavLst>
                                    </p:anim>
                                    <p:anim calcmode="lin" valueType="num">
                                      <p:cBhvr>
                                        <p:cTn id="65" dur="1000" fill="hold"/>
                                        <p:tgtEl>
                                          <p:spTgt spid="10">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8" presetID="42" presetClass="entr" presetSubtype="0" fill="hold" grpId="0" nodeType="clickEffect">
                                  <p:stCondLst>
                                    <p:cond delay="0"/>
                                  </p:stCondLst>
                                  <p:childTnLst>
                                    <p:set>
                                      <p:cBhvr>
                                        <p:cTn id="69" dur="1" fill="hold">
                                          <p:stCondLst>
                                            <p:cond delay="0"/>
                                          </p:stCondLst>
                                        </p:cTn>
                                        <p:tgtEl>
                                          <p:spTgt spid="10">
                                            <p:txEl>
                                              <p:pRg st="6" end="6"/>
                                            </p:txEl>
                                          </p:spTgt>
                                        </p:tgtEl>
                                        <p:attrNameLst>
                                          <p:attrName>style.visibility</p:attrName>
                                        </p:attrNameLst>
                                      </p:cBhvr>
                                      <p:to>
                                        <p:strVal val="visible"/>
                                      </p:to>
                                    </p:set>
                                    <p:animEffect transition="in" filter="fade">
                                      <p:cBhvr>
                                        <p:cTn id="70" dur="1000"/>
                                        <p:tgtEl>
                                          <p:spTgt spid="10">
                                            <p:txEl>
                                              <p:pRg st="6" end="6"/>
                                            </p:txEl>
                                          </p:spTgt>
                                        </p:tgtEl>
                                      </p:cBhvr>
                                    </p:animEffect>
                                    <p:anim calcmode="lin" valueType="num">
                                      <p:cBhvr>
                                        <p:cTn id="71" dur="1000" fill="hold"/>
                                        <p:tgtEl>
                                          <p:spTgt spid="10">
                                            <p:txEl>
                                              <p:pRg st="6" end="6"/>
                                            </p:txEl>
                                          </p:spTgt>
                                        </p:tgtEl>
                                        <p:attrNameLst>
                                          <p:attrName>ppt_x</p:attrName>
                                        </p:attrNameLst>
                                      </p:cBhvr>
                                      <p:tavLst>
                                        <p:tav tm="0">
                                          <p:val>
                                            <p:strVal val="#ppt_x"/>
                                          </p:val>
                                        </p:tav>
                                        <p:tav tm="100000">
                                          <p:val>
                                            <p:strVal val="#ppt_x"/>
                                          </p:val>
                                        </p:tav>
                                      </p:tavLst>
                                    </p:anim>
                                    <p:anim calcmode="lin" valueType="num">
                                      <p:cBhvr>
                                        <p:cTn id="72" dur="1000" fill="hold"/>
                                        <p:tgtEl>
                                          <p:spTgt spid="10">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B1E3463-DEAD-53DD-2AC0-E8A458421D0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B713140B-3822-90E0-F216-B77A695B86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B6E3B1C7-6A8B-23EE-6251-DC1067C6ADE9}"/>
              </a:ext>
            </a:extLst>
          </p:cNvPr>
          <p:cNvSpPr>
            <a:spLocks noGrp="1"/>
          </p:cNvSpPr>
          <p:nvPr>
            <p:ph type="body" sz="quarter" idx="12"/>
          </p:nvPr>
        </p:nvSpPr>
        <p:spPr>
          <a:xfrm>
            <a:off x="835156" y="1326153"/>
            <a:ext cx="4175383" cy="4539899"/>
          </a:xfrm>
        </p:spPr>
        <p:txBody>
          <a:bodyPr>
            <a:normAutofit fontScale="85000" lnSpcReduction="10000"/>
          </a:bodyPr>
          <a:lstStyle/>
          <a:p>
            <a:r>
              <a:rPr lang="en-IN" dirty="0"/>
              <a:t>The pie chart shows the </a:t>
            </a:r>
            <a:r>
              <a:rPr lang="en-IN" b="1" dirty="0"/>
              <a:t>percentage distribution of agricultural records by season</a:t>
            </a:r>
            <a:r>
              <a:rPr lang="en-IN" dirty="0"/>
              <a:t>:</a:t>
            </a:r>
          </a:p>
          <a:p>
            <a:pPr lvl="0"/>
            <a:r>
              <a:rPr lang="en-IN" b="1" dirty="0"/>
              <a:t>Kharif:</a:t>
            </a:r>
            <a:r>
              <a:rPr lang="en-IN" dirty="0"/>
              <a:t> </a:t>
            </a:r>
            <a:r>
              <a:rPr lang="en-IN" b="1" dirty="0"/>
              <a:t>44.5%</a:t>
            </a:r>
            <a:r>
              <a:rPr lang="en-IN" dirty="0"/>
              <a:t> — highest share of records. </a:t>
            </a:r>
          </a:p>
          <a:p>
            <a:pPr lvl="0"/>
            <a:r>
              <a:rPr lang="en-IN" b="1" dirty="0"/>
              <a:t>Rabi:</a:t>
            </a:r>
            <a:r>
              <a:rPr lang="en-IN" dirty="0"/>
              <a:t> </a:t>
            </a:r>
            <a:r>
              <a:rPr lang="en-IN" b="1" dirty="0"/>
              <a:t>40.7%</a:t>
            </a:r>
            <a:r>
              <a:rPr lang="en-IN" dirty="0"/>
              <a:t> — second-highest share. </a:t>
            </a:r>
          </a:p>
          <a:p>
            <a:pPr lvl="0"/>
            <a:r>
              <a:rPr lang="en-IN" b="1" dirty="0"/>
              <a:t>Zaid:</a:t>
            </a:r>
            <a:r>
              <a:rPr lang="en-IN" dirty="0"/>
              <a:t> </a:t>
            </a:r>
            <a:r>
              <a:rPr lang="en-IN" b="1" dirty="0"/>
              <a:t>14.8%</a:t>
            </a:r>
            <a:r>
              <a:rPr lang="en-IN" dirty="0"/>
              <a:t> — lowest share. </a:t>
            </a:r>
          </a:p>
          <a:p>
            <a:pPr marL="0" lvl="0" indent="0">
              <a:buNone/>
            </a:pPr>
            <a:endParaRPr lang="en-IN" dirty="0"/>
          </a:p>
          <a:p>
            <a:r>
              <a:rPr lang="en-IN" b="1" dirty="0"/>
              <a:t>Interpretation:</a:t>
            </a:r>
            <a:r>
              <a:rPr lang="en-IN" dirty="0"/>
              <a:t> Kharif and Rabi together account for the majority of the dataset (</a:t>
            </a:r>
            <a:r>
              <a:rPr lang="en-IN" b="1" dirty="0"/>
              <a:t>85.2%</a:t>
            </a:r>
            <a:r>
              <a:rPr lang="en-IN" dirty="0"/>
              <a:t>), while Zaid represents a smaller portion. Therefore, seasonal comparisons involving Zaid should be interpreted carefully due to its lower representation.</a:t>
            </a:r>
          </a:p>
        </p:txBody>
      </p:sp>
      <p:pic>
        <p:nvPicPr>
          <p:cNvPr id="2" name="Picture 1">
            <a:extLst>
              <a:ext uri="{FF2B5EF4-FFF2-40B4-BE49-F238E27FC236}">
                <a16:creationId xmlns:a16="http://schemas.microsoft.com/office/drawing/2014/main" id="{9E5A477D-0DE4-BFE4-2317-C11C2D3EB898}"/>
              </a:ext>
            </a:extLst>
          </p:cNvPr>
          <p:cNvPicPr>
            <a:picLocks noChangeAspect="1"/>
          </p:cNvPicPr>
          <p:nvPr/>
        </p:nvPicPr>
        <p:blipFill>
          <a:blip r:embed="rId3"/>
          <a:stretch>
            <a:fillRect/>
          </a:stretch>
        </p:blipFill>
        <p:spPr>
          <a:xfrm>
            <a:off x="5335577" y="1201586"/>
            <a:ext cx="5005935" cy="5164494"/>
          </a:xfrm>
          <a:prstGeom prst="rect">
            <a:avLst/>
          </a:prstGeom>
        </p:spPr>
      </p:pic>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10">
                                            <p:txEl>
                                              <p:pRg st="1" end="1"/>
                                            </p:txEl>
                                          </p:spTgt>
                                        </p:tgtEl>
                                        <p:attrNameLst>
                                          <p:attrName>style.visibility</p:attrName>
                                        </p:attrNameLst>
                                      </p:cBhvr>
                                      <p:to>
                                        <p:strVal val="visible"/>
                                      </p:to>
                                    </p:set>
                                    <p:animEffect transition="in" filter="fade">
                                      <p:cBhvr>
                                        <p:cTn id="35" dur="1000"/>
                                        <p:tgtEl>
                                          <p:spTgt spid="10">
                                            <p:txEl>
                                              <p:pRg st="1" end="1"/>
                                            </p:txEl>
                                          </p:spTgt>
                                        </p:tgtEl>
                                      </p:cBhvr>
                                    </p:animEffect>
                                    <p:anim calcmode="lin" valueType="num">
                                      <p:cBhvr>
                                        <p:cTn id="36" dur="1000" fill="hold"/>
                                        <p:tgtEl>
                                          <p:spTgt spid="10">
                                            <p:txEl>
                                              <p:pRg st="1" end="1"/>
                                            </p:txEl>
                                          </p:spTgt>
                                        </p:tgtEl>
                                        <p:attrNameLst>
                                          <p:attrName>ppt_x</p:attrName>
                                        </p:attrNameLst>
                                      </p:cBhvr>
                                      <p:tavLst>
                                        <p:tav tm="0">
                                          <p:val>
                                            <p:strVal val="#ppt_x"/>
                                          </p:val>
                                        </p:tav>
                                        <p:tav tm="100000">
                                          <p:val>
                                            <p:strVal val="#ppt_x"/>
                                          </p:val>
                                        </p:tav>
                                      </p:tavLst>
                                    </p:anim>
                                    <p:anim calcmode="lin" valueType="num">
                                      <p:cBhvr>
                                        <p:cTn id="37" dur="1000" fill="hold"/>
                                        <p:tgtEl>
                                          <p:spTgt spid="10">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10">
                                            <p:txEl>
                                              <p:pRg st="2" end="2"/>
                                            </p:txEl>
                                          </p:spTgt>
                                        </p:tgtEl>
                                        <p:attrNameLst>
                                          <p:attrName>style.visibility</p:attrName>
                                        </p:attrNameLst>
                                      </p:cBhvr>
                                      <p:to>
                                        <p:strVal val="visible"/>
                                      </p:to>
                                    </p:set>
                                    <p:animEffect transition="in" filter="fade">
                                      <p:cBhvr>
                                        <p:cTn id="42" dur="1000"/>
                                        <p:tgtEl>
                                          <p:spTgt spid="10">
                                            <p:txEl>
                                              <p:pRg st="2" end="2"/>
                                            </p:txEl>
                                          </p:spTgt>
                                        </p:tgtEl>
                                      </p:cBhvr>
                                    </p:animEffect>
                                    <p:anim calcmode="lin" valueType="num">
                                      <p:cBhvr>
                                        <p:cTn id="43" dur="1000" fill="hold"/>
                                        <p:tgtEl>
                                          <p:spTgt spid="10">
                                            <p:txEl>
                                              <p:pRg st="2" end="2"/>
                                            </p:txEl>
                                          </p:spTgt>
                                        </p:tgtEl>
                                        <p:attrNameLst>
                                          <p:attrName>ppt_x</p:attrName>
                                        </p:attrNameLst>
                                      </p:cBhvr>
                                      <p:tavLst>
                                        <p:tav tm="0">
                                          <p:val>
                                            <p:strVal val="#ppt_x"/>
                                          </p:val>
                                        </p:tav>
                                        <p:tav tm="100000">
                                          <p:val>
                                            <p:strVal val="#ppt_x"/>
                                          </p:val>
                                        </p:tav>
                                      </p:tavLst>
                                    </p:anim>
                                    <p:anim calcmode="lin" valueType="num">
                                      <p:cBhvr>
                                        <p:cTn id="44" dur="1000" fill="hold"/>
                                        <p:tgtEl>
                                          <p:spTgt spid="10">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10">
                                            <p:txEl>
                                              <p:pRg st="3" end="3"/>
                                            </p:txEl>
                                          </p:spTgt>
                                        </p:tgtEl>
                                        <p:attrNameLst>
                                          <p:attrName>style.visibility</p:attrName>
                                        </p:attrNameLst>
                                      </p:cBhvr>
                                      <p:to>
                                        <p:strVal val="visible"/>
                                      </p:to>
                                    </p:set>
                                    <p:animEffect transition="in" filter="fade">
                                      <p:cBhvr>
                                        <p:cTn id="49" dur="1000"/>
                                        <p:tgtEl>
                                          <p:spTgt spid="10">
                                            <p:txEl>
                                              <p:pRg st="3" end="3"/>
                                            </p:txEl>
                                          </p:spTgt>
                                        </p:tgtEl>
                                      </p:cBhvr>
                                    </p:animEffect>
                                    <p:anim calcmode="lin" valueType="num">
                                      <p:cBhvr>
                                        <p:cTn id="50" dur="1000" fill="hold"/>
                                        <p:tgtEl>
                                          <p:spTgt spid="10">
                                            <p:txEl>
                                              <p:pRg st="3" end="3"/>
                                            </p:txEl>
                                          </p:spTgt>
                                        </p:tgtEl>
                                        <p:attrNameLst>
                                          <p:attrName>ppt_x</p:attrName>
                                        </p:attrNameLst>
                                      </p:cBhvr>
                                      <p:tavLst>
                                        <p:tav tm="0">
                                          <p:val>
                                            <p:strVal val="#ppt_x"/>
                                          </p:val>
                                        </p:tav>
                                        <p:tav tm="100000">
                                          <p:val>
                                            <p:strVal val="#ppt_x"/>
                                          </p:val>
                                        </p:tav>
                                      </p:tavLst>
                                    </p:anim>
                                    <p:anim calcmode="lin" valueType="num">
                                      <p:cBhvr>
                                        <p:cTn id="51" dur="1000" fill="hold"/>
                                        <p:tgtEl>
                                          <p:spTgt spid="10">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10">
                                            <p:txEl>
                                              <p:pRg st="5" end="5"/>
                                            </p:txEl>
                                          </p:spTgt>
                                        </p:tgtEl>
                                        <p:attrNameLst>
                                          <p:attrName>style.visibility</p:attrName>
                                        </p:attrNameLst>
                                      </p:cBhvr>
                                      <p:to>
                                        <p:strVal val="visible"/>
                                      </p:to>
                                    </p:set>
                                    <p:animEffect transition="in" filter="fade">
                                      <p:cBhvr>
                                        <p:cTn id="56" dur="1000"/>
                                        <p:tgtEl>
                                          <p:spTgt spid="10">
                                            <p:txEl>
                                              <p:pRg st="5" end="5"/>
                                            </p:txEl>
                                          </p:spTgt>
                                        </p:tgtEl>
                                      </p:cBhvr>
                                    </p:animEffect>
                                    <p:anim calcmode="lin" valueType="num">
                                      <p:cBhvr>
                                        <p:cTn id="57" dur="1000" fill="hold"/>
                                        <p:tgtEl>
                                          <p:spTgt spid="10">
                                            <p:txEl>
                                              <p:pRg st="5" end="5"/>
                                            </p:txEl>
                                          </p:spTgt>
                                        </p:tgtEl>
                                        <p:attrNameLst>
                                          <p:attrName>ppt_x</p:attrName>
                                        </p:attrNameLst>
                                      </p:cBhvr>
                                      <p:tavLst>
                                        <p:tav tm="0">
                                          <p:val>
                                            <p:strVal val="#ppt_x"/>
                                          </p:val>
                                        </p:tav>
                                        <p:tav tm="100000">
                                          <p:val>
                                            <p:strVal val="#ppt_x"/>
                                          </p:val>
                                        </p:tav>
                                      </p:tavLst>
                                    </p:anim>
                                    <p:anim calcmode="lin" valueType="num">
                                      <p:cBhvr>
                                        <p:cTn id="58" dur="1000" fill="hold"/>
                                        <p:tgtEl>
                                          <p:spTgt spid="10">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5AC1B-54F8-474D-6B86-CF23FDF34B0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D7CE81-8696-30A4-F33E-B4B569D3502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5FD49EE-0956-AAE3-737B-15F7D4267C1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D224F8B1-34DD-5A54-7F70-25EBA532E6E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5A36120-3EFF-6A69-8D23-42BFD883ADDA}"/>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2B7B89A1-9444-8322-CADC-42D31D698FA8}"/>
              </a:ext>
            </a:extLst>
          </p:cNvPr>
          <p:cNvSpPr>
            <a:spLocks noGrp="1"/>
          </p:cNvSpPr>
          <p:nvPr>
            <p:ph type="body" sz="quarter" idx="12"/>
          </p:nvPr>
        </p:nvSpPr>
        <p:spPr>
          <a:xfrm>
            <a:off x="494521" y="1201586"/>
            <a:ext cx="4769215" cy="5563107"/>
          </a:xfrm>
        </p:spPr>
        <p:txBody>
          <a:bodyPr>
            <a:normAutofit fontScale="62500" lnSpcReduction="20000"/>
          </a:bodyPr>
          <a:lstStyle/>
          <a:p>
            <a:r>
              <a:rPr lang="en-IN" dirty="0"/>
              <a:t>This </a:t>
            </a:r>
            <a:r>
              <a:rPr lang="en-IN" b="1" dirty="0"/>
              <a:t>pair plot</a:t>
            </a:r>
            <a:r>
              <a:rPr lang="en-IN" dirty="0"/>
              <a:t> shows relationships among </a:t>
            </a:r>
            <a:r>
              <a:rPr lang="en-IN" b="1" dirty="0"/>
              <a:t>temperature, rainfall, humidity, yield, and profit</a:t>
            </a:r>
            <a:r>
              <a:rPr lang="en-IN" dirty="0"/>
              <a:t>, separated by season.</a:t>
            </a:r>
          </a:p>
          <a:p>
            <a:pPr lvl="0"/>
            <a:r>
              <a:rPr lang="en-IN" b="1" dirty="0"/>
              <a:t>Temperature:</a:t>
            </a:r>
            <a:r>
              <a:rPr lang="en-IN" dirty="0"/>
              <a:t> Kharif generally has higher temperatures, while Rabi and Zaid show different temperature distributions. </a:t>
            </a:r>
          </a:p>
          <a:p>
            <a:pPr lvl="0"/>
            <a:r>
              <a:rPr lang="en-IN" b="1" dirty="0"/>
              <a:t>Rainfall:</a:t>
            </a:r>
            <a:r>
              <a:rPr lang="en-IN" dirty="0"/>
              <a:t> Kharif has generally higher rainfall, whereas Zaid has comparatively lower rainfall. </a:t>
            </a:r>
          </a:p>
          <a:p>
            <a:pPr lvl="0"/>
            <a:r>
              <a:rPr lang="en-IN" b="1" dirty="0"/>
              <a:t>Humidity:</a:t>
            </a:r>
            <a:r>
              <a:rPr lang="en-IN" dirty="0"/>
              <a:t> Kharif tends to show higher humidity compared with the other seasons. </a:t>
            </a:r>
          </a:p>
          <a:p>
            <a:pPr lvl="0"/>
            <a:r>
              <a:rPr lang="en-IN" b="1" dirty="0"/>
              <a:t>Yield:</a:t>
            </a:r>
            <a:r>
              <a:rPr lang="en-IN" dirty="0"/>
              <a:t> Most yield values are concentrated at lower levels, with some observations showing much higher yields. </a:t>
            </a:r>
          </a:p>
          <a:p>
            <a:pPr lvl="0"/>
            <a:r>
              <a:rPr lang="en-IN" b="1" dirty="0"/>
              <a:t>Profit:</a:t>
            </a:r>
            <a:r>
              <a:rPr lang="en-IN" dirty="0"/>
              <a:t> Profit varies considerably, with most observations concentrated near lower profit values. </a:t>
            </a:r>
          </a:p>
          <a:p>
            <a:pPr lvl="0"/>
            <a:r>
              <a:rPr lang="en-IN" b="1" dirty="0"/>
              <a:t>Yield vs Profit:</a:t>
            </a:r>
            <a:r>
              <a:rPr lang="en-IN" dirty="0"/>
              <a:t> There appears to be a  - </a:t>
            </a:r>
            <a:r>
              <a:rPr lang="en-IN" b="1" dirty="0"/>
              <a:t>positive relationship</a:t>
            </a:r>
            <a:r>
              <a:rPr lang="en-IN" dirty="0"/>
              <a:t>—higher yield is generally associated with higher profit. </a:t>
            </a:r>
          </a:p>
          <a:p>
            <a:pPr lvl="0"/>
            <a:r>
              <a:rPr lang="en-IN" b="1" dirty="0"/>
              <a:t>Seasonal patterns:</a:t>
            </a:r>
            <a:r>
              <a:rPr lang="en-IN" dirty="0"/>
              <a:t> The </a:t>
            </a:r>
            <a:r>
              <a:rPr lang="en-IN" dirty="0" err="1"/>
              <a:t>colors</a:t>
            </a:r>
            <a:r>
              <a:rPr lang="en-IN" dirty="0"/>
              <a:t> show that environmental conditions and agricultural performance differ noticeably among Kharif, Rabi, and Zaid. </a:t>
            </a:r>
          </a:p>
          <a:p>
            <a:r>
              <a:rPr lang="en-IN" b="1" dirty="0"/>
              <a:t>Overall interpretation:</a:t>
            </a:r>
            <a:r>
              <a:rPr lang="en-IN" dirty="0"/>
              <a:t> The plot indicates that seasonal environmental conditions are associated with differences in agricultural yield and profitability, but these relationships do </a:t>
            </a:r>
            <a:r>
              <a:rPr lang="en-IN" b="1" dirty="0"/>
              <a:t>not prove causation</a:t>
            </a:r>
            <a:r>
              <a:rPr lang="en-IN" dirty="0"/>
              <a:t>.</a:t>
            </a:r>
          </a:p>
        </p:txBody>
      </p:sp>
      <p:pic>
        <p:nvPicPr>
          <p:cNvPr id="2" name="Picture 1">
            <a:extLst>
              <a:ext uri="{FF2B5EF4-FFF2-40B4-BE49-F238E27FC236}">
                <a16:creationId xmlns:a16="http://schemas.microsoft.com/office/drawing/2014/main" id="{7B660101-DEE4-F35F-3ABF-82E9D2710512}"/>
              </a:ext>
            </a:extLst>
          </p:cNvPr>
          <p:cNvPicPr>
            <a:picLocks noChangeAspect="1"/>
          </p:cNvPicPr>
          <p:nvPr/>
        </p:nvPicPr>
        <p:blipFill>
          <a:blip r:embed="rId3"/>
          <a:stretch>
            <a:fillRect/>
          </a:stretch>
        </p:blipFill>
        <p:spPr>
          <a:xfrm>
            <a:off x="5263737" y="257484"/>
            <a:ext cx="6671635" cy="6343032"/>
          </a:xfrm>
          <a:prstGeom prst="rect">
            <a:avLst/>
          </a:prstGeom>
        </p:spPr>
      </p:pic>
    </p:spTree>
    <p:extLst>
      <p:ext uri="{BB962C8B-B14F-4D97-AF65-F5344CB8AC3E}">
        <p14:creationId xmlns:p14="http://schemas.microsoft.com/office/powerpoint/2010/main" val="1903979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10">
                                            <p:txEl>
                                              <p:pRg st="1" end="1"/>
                                            </p:txEl>
                                          </p:spTgt>
                                        </p:tgtEl>
                                        <p:attrNameLst>
                                          <p:attrName>style.visibility</p:attrName>
                                        </p:attrNameLst>
                                      </p:cBhvr>
                                      <p:to>
                                        <p:strVal val="visible"/>
                                      </p:to>
                                    </p:set>
                                    <p:animEffect transition="in" filter="fade">
                                      <p:cBhvr>
                                        <p:cTn id="35" dur="1000"/>
                                        <p:tgtEl>
                                          <p:spTgt spid="10">
                                            <p:txEl>
                                              <p:pRg st="1" end="1"/>
                                            </p:txEl>
                                          </p:spTgt>
                                        </p:tgtEl>
                                      </p:cBhvr>
                                    </p:animEffect>
                                    <p:anim calcmode="lin" valueType="num">
                                      <p:cBhvr>
                                        <p:cTn id="36" dur="1000" fill="hold"/>
                                        <p:tgtEl>
                                          <p:spTgt spid="10">
                                            <p:txEl>
                                              <p:pRg st="1" end="1"/>
                                            </p:txEl>
                                          </p:spTgt>
                                        </p:tgtEl>
                                        <p:attrNameLst>
                                          <p:attrName>ppt_x</p:attrName>
                                        </p:attrNameLst>
                                      </p:cBhvr>
                                      <p:tavLst>
                                        <p:tav tm="0">
                                          <p:val>
                                            <p:strVal val="#ppt_x"/>
                                          </p:val>
                                        </p:tav>
                                        <p:tav tm="100000">
                                          <p:val>
                                            <p:strVal val="#ppt_x"/>
                                          </p:val>
                                        </p:tav>
                                      </p:tavLst>
                                    </p:anim>
                                    <p:anim calcmode="lin" valueType="num">
                                      <p:cBhvr>
                                        <p:cTn id="37" dur="1000" fill="hold"/>
                                        <p:tgtEl>
                                          <p:spTgt spid="10">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10">
                                            <p:txEl>
                                              <p:pRg st="2" end="2"/>
                                            </p:txEl>
                                          </p:spTgt>
                                        </p:tgtEl>
                                        <p:attrNameLst>
                                          <p:attrName>style.visibility</p:attrName>
                                        </p:attrNameLst>
                                      </p:cBhvr>
                                      <p:to>
                                        <p:strVal val="visible"/>
                                      </p:to>
                                    </p:set>
                                    <p:animEffect transition="in" filter="fade">
                                      <p:cBhvr>
                                        <p:cTn id="42" dur="1000"/>
                                        <p:tgtEl>
                                          <p:spTgt spid="10">
                                            <p:txEl>
                                              <p:pRg st="2" end="2"/>
                                            </p:txEl>
                                          </p:spTgt>
                                        </p:tgtEl>
                                      </p:cBhvr>
                                    </p:animEffect>
                                    <p:anim calcmode="lin" valueType="num">
                                      <p:cBhvr>
                                        <p:cTn id="43" dur="1000" fill="hold"/>
                                        <p:tgtEl>
                                          <p:spTgt spid="10">
                                            <p:txEl>
                                              <p:pRg st="2" end="2"/>
                                            </p:txEl>
                                          </p:spTgt>
                                        </p:tgtEl>
                                        <p:attrNameLst>
                                          <p:attrName>ppt_x</p:attrName>
                                        </p:attrNameLst>
                                      </p:cBhvr>
                                      <p:tavLst>
                                        <p:tav tm="0">
                                          <p:val>
                                            <p:strVal val="#ppt_x"/>
                                          </p:val>
                                        </p:tav>
                                        <p:tav tm="100000">
                                          <p:val>
                                            <p:strVal val="#ppt_x"/>
                                          </p:val>
                                        </p:tav>
                                      </p:tavLst>
                                    </p:anim>
                                    <p:anim calcmode="lin" valueType="num">
                                      <p:cBhvr>
                                        <p:cTn id="44" dur="1000" fill="hold"/>
                                        <p:tgtEl>
                                          <p:spTgt spid="10">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10">
                                            <p:txEl>
                                              <p:pRg st="3" end="3"/>
                                            </p:txEl>
                                          </p:spTgt>
                                        </p:tgtEl>
                                        <p:attrNameLst>
                                          <p:attrName>style.visibility</p:attrName>
                                        </p:attrNameLst>
                                      </p:cBhvr>
                                      <p:to>
                                        <p:strVal val="visible"/>
                                      </p:to>
                                    </p:set>
                                    <p:animEffect transition="in" filter="fade">
                                      <p:cBhvr>
                                        <p:cTn id="49" dur="1000"/>
                                        <p:tgtEl>
                                          <p:spTgt spid="10">
                                            <p:txEl>
                                              <p:pRg st="3" end="3"/>
                                            </p:txEl>
                                          </p:spTgt>
                                        </p:tgtEl>
                                      </p:cBhvr>
                                    </p:animEffect>
                                    <p:anim calcmode="lin" valueType="num">
                                      <p:cBhvr>
                                        <p:cTn id="50" dur="1000" fill="hold"/>
                                        <p:tgtEl>
                                          <p:spTgt spid="10">
                                            <p:txEl>
                                              <p:pRg st="3" end="3"/>
                                            </p:txEl>
                                          </p:spTgt>
                                        </p:tgtEl>
                                        <p:attrNameLst>
                                          <p:attrName>ppt_x</p:attrName>
                                        </p:attrNameLst>
                                      </p:cBhvr>
                                      <p:tavLst>
                                        <p:tav tm="0">
                                          <p:val>
                                            <p:strVal val="#ppt_x"/>
                                          </p:val>
                                        </p:tav>
                                        <p:tav tm="100000">
                                          <p:val>
                                            <p:strVal val="#ppt_x"/>
                                          </p:val>
                                        </p:tav>
                                      </p:tavLst>
                                    </p:anim>
                                    <p:anim calcmode="lin" valueType="num">
                                      <p:cBhvr>
                                        <p:cTn id="51" dur="1000" fill="hold"/>
                                        <p:tgtEl>
                                          <p:spTgt spid="10">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10">
                                            <p:txEl>
                                              <p:pRg st="4" end="4"/>
                                            </p:txEl>
                                          </p:spTgt>
                                        </p:tgtEl>
                                        <p:attrNameLst>
                                          <p:attrName>style.visibility</p:attrName>
                                        </p:attrNameLst>
                                      </p:cBhvr>
                                      <p:to>
                                        <p:strVal val="visible"/>
                                      </p:to>
                                    </p:set>
                                    <p:animEffect transition="in" filter="fade">
                                      <p:cBhvr>
                                        <p:cTn id="56" dur="1000"/>
                                        <p:tgtEl>
                                          <p:spTgt spid="10">
                                            <p:txEl>
                                              <p:pRg st="4" end="4"/>
                                            </p:txEl>
                                          </p:spTgt>
                                        </p:tgtEl>
                                      </p:cBhvr>
                                    </p:animEffect>
                                    <p:anim calcmode="lin" valueType="num">
                                      <p:cBhvr>
                                        <p:cTn id="57" dur="1000" fill="hold"/>
                                        <p:tgtEl>
                                          <p:spTgt spid="10">
                                            <p:txEl>
                                              <p:pRg st="4" end="4"/>
                                            </p:txEl>
                                          </p:spTgt>
                                        </p:tgtEl>
                                        <p:attrNameLst>
                                          <p:attrName>ppt_x</p:attrName>
                                        </p:attrNameLst>
                                      </p:cBhvr>
                                      <p:tavLst>
                                        <p:tav tm="0">
                                          <p:val>
                                            <p:strVal val="#ppt_x"/>
                                          </p:val>
                                        </p:tav>
                                        <p:tav tm="100000">
                                          <p:val>
                                            <p:strVal val="#ppt_x"/>
                                          </p:val>
                                        </p:tav>
                                      </p:tavLst>
                                    </p:anim>
                                    <p:anim calcmode="lin" valueType="num">
                                      <p:cBhvr>
                                        <p:cTn id="58" dur="1000" fill="hold"/>
                                        <p:tgtEl>
                                          <p:spTgt spid="10">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42" presetClass="entr" presetSubtype="0" fill="hold" grpId="0" nodeType="clickEffect">
                                  <p:stCondLst>
                                    <p:cond delay="0"/>
                                  </p:stCondLst>
                                  <p:childTnLst>
                                    <p:set>
                                      <p:cBhvr>
                                        <p:cTn id="62" dur="1" fill="hold">
                                          <p:stCondLst>
                                            <p:cond delay="0"/>
                                          </p:stCondLst>
                                        </p:cTn>
                                        <p:tgtEl>
                                          <p:spTgt spid="10">
                                            <p:txEl>
                                              <p:pRg st="5" end="5"/>
                                            </p:txEl>
                                          </p:spTgt>
                                        </p:tgtEl>
                                        <p:attrNameLst>
                                          <p:attrName>style.visibility</p:attrName>
                                        </p:attrNameLst>
                                      </p:cBhvr>
                                      <p:to>
                                        <p:strVal val="visible"/>
                                      </p:to>
                                    </p:set>
                                    <p:animEffect transition="in" filter="fade">
                                      <p:cBhvr>
                                        <p:cTn id="63" dur="1000"/>
                                        <p:tgtEl>
                                          <p:spTgt spid="10">
                                            <p:txEl>
                                              <p:pRg st="5" end="5"/>
                                            </p:txEl>
                                          </p:spTgt>
                                        </p:tgtEl>
                                      </p:cBhvr>
                                    </p:animEffect>
                                    <p:anim calcmode="lin" valueType="num">
                                      <p:cBhvr>
                                        <p:cTn id="64" dur="1000" fill="hold"/>
                                        <p:tgtEl>
                                          <p:spTgt spid="10">
                                            <p:txEl>
                                              <p:pRg st="5" end="5"/>
                                            </p:txEl>
                                          </p:spTgt>
                                        </p:tgtEl>
                                        <p:attrNameLst>
                                          <p:attrName>ppt_x</p:attrName>
                                        </p:attrNameLst>
                                      </p:cBhvr>
                                      <p:tavLst>
                                        <p:tav tm="0">
                                          <p:val>
                                            <p:strVal val="#ppt_x"/>
                                          </p:val>
                                        </p:tav>
                                        <p:tav tm="100000">
                                          <p:val>
                                            <p:strVal val="#ppt_x"/>
                                          </p:val>
                                        </p:tav>
                                      </p:tavLst>
                                    </p:anim>
                                    <p:anim calcmode="lin" valueType="num">
                                      <p:cBhvr>
                                        <p:cTn id="65" dur="1000" fill="hold"/>
                                        <p:tgtEl>
                                          <p:spTgt spid="10">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8" presetID="42" presetClass="entr" presetSubtype="0" fill="hold" grpId="0" nodeType="clickEffect">
                                  <p:stCondLst>
                                    <p:cond delay="0"/>
                                  </p:stCondLst>
                                  <p:childTnLst>
                                    <p:set>
                                      <p:cBhvr>
                                        <p:cTn id="69" dur="1" fill="hold">
                                          <p:stCondLst>
                                            <p:cond delay="0"/>
                                          </p:stCondLst>
                                        </p:cTn>
                                        <p:tgtEl>
                                          <p:spTgt spid="10">
                                            <p:txEl>
                                              <p:pRg st="6" end="6"/>
                                            </p:txEl>
                                          </p:spTgt>
                                        </p:tgtEl>
                                        <p:attrNameLst>
                                          <p:attrName>style.visibility</p:attrName>
                                        </p:attrNameLst>
                                      </p:cBhvr>
                                      <p:to>
                                        <p:strVal val="visible"/>
                                      </p:to>
                                    </p:set>
                                    <p:animEffect transition="in" filter="fade">
                                      <p:cBhvr>
                                        <p:cTn id="70" dur="1000"/>
                                        <p:tgtEl>
                                          <p:spTgt spid="10">
                                            <p:txEl>
                                              <p:pRg st="6" end="6"/>
                                            </p:txEl>
                                          </p:spTgt>
                                        </p:tgtEl>
                                      </p:cBhvr>
                                    </p:animEffect>
                                    <p:anim calcmode="lin" valueType="num">
                                      <p:cBhvr>
                                        <p:cTn id="71" dur="1000" fill="hold"/>
                                        <p:tgtEl>
                                          <p:spTgt spid="10">
                                            <p:txEl>
                                              <p:pRg st="6" end="6"/>
                                            </p:txEl>
                                          </p:spTgt>
                                        </p:tgtEl>
                                        <p:attrNameLst>
                                          <p:attrName>ppt_x</p:attrName>
                                        </p:attrNameLst>
                                      </p:cBhvr>
                                      <p:tavLst>
                                        <p:tav tm="0">
                                          <p:val>
                                            <p:strVal val="#ppt_x"/>
                                          </p:val>
                                        </p:tav>
                                        <p:tav tm="100000">
                                          <p:val>
                                            <p:strVal val="#ppt_x"/>
                                          </p:val>
                                        </p:tav>
                                      </p:tavLst>
                                    </p:anim>
                                    <p:anim calcmode="lin" valueType="num">
                                      <p:cBhvr>
                                        <p:cTn id="72" dur="1000" fill="hold"/>
                                        <p:tgtEl>
                                          <p:spTgt spid="10">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5" presetID="42" presetClass="entr" presetSubtype="0" fill="hold" grpId="0" nodeType="clickEffect">
                                  <p:stCondLst>
                                    <p:cond delay="0"/>
                                  </p:stCondLst>
                                  <p:childTnLst>
                                    <p:set>
                                      <p:cBhvr>
                                        <p:cTn id="76" dur="1" fill="hold">
                                          <p:stCondLst>
                                            <p:cond delay="0"/>
                                          </p:stCondLst>
                                        </p:cTn>
                                        <p:tgtEl>
                                          <p:spTgt spid="10">
                                            <p:txEl>
                                              <p:pRg st="7" end="7"/>
                                            </p:txEl>
                                          </p:spTgt>
                                        </p:tgtEl>
                                        <p:attrNameLst>
                                          <p:attrName>style.visibility</p:attrName>
                                        </p:attrNameLst>
                                      </p:cBhvr>
                                      <p:to>
                                        <p:strVal val="visible"/>
                                      </p:to>
                                    </p:set>
                                    <p:animEffect transition="in" filter="fade">
                                      <p:cBhvr>
                                        <p:cTn id="77" dur="1000"/>
                                        <p:tgtEl>
                                          <p:spTgt spid="10">
                                            <p:txEl>
                                              <p:pRg st="7" end="7"/>
                                            </p:txEl>
                                          </p:spTgt>
                                        </p:tgtEl>
                                      </p:cBhvr>
                                    </p:animEffect>
                                    <p:anim calcmode="lin" valueType="num">
                                      <p:cBhvr>
                                        <p:cTn id="78" dur="1000" fill="hold"/>
                                        <p:tgtEl>
                                          <p:spTgt spid="10">
                                            <p:txEl>
                                              <p:pRg st="7" end="7"/>
                                            </p:txEl>
                                          </p:spTgt>
                                        </p:tgtEl>
                                        <p:attrNameLst>
                                          <p:attrName>ppt_x</p:attrName>
                                        </p:attrNameLst>
                                      </p:cBhvr>
                                      <p:tavLst>
                                        <p:tav tm="0">
                                          <p:val>
                                            <p:strVal val="#ppt_x"/>
                                          </p:val>
                                        </p:tav>
                                        <p:tav tm="100000">
                                          <p:val>
                                            <p:strVal val="#ppt_x"/>
                                          </p:val>
                                        </p:tav>
                                      </p:tavLst>
                                    </p:anim>
                                    <p:anim calcmode="lin" valueType="num">
                                      <p:cBhvr>
                                        <p:cTn id="79" dur="1000" fill="hold"/>
                                        <p:tgtEl>
                                          <p:spTgt spid="10">
                                            <p:txEl>
                                              <p:pRg st="7" end="7"/>
                                            </p:txEl>
                                          </p:spTgt>
                                        </p:tgtEl>
                                        <p:attrNameLst>
                                          <p:attrName>ppt_y</p:attrName>
                                        </p:attrNameLst>
                                      </p:cBhvr>
                                      <p:tavLst>
                                        <p:tav tm="0">
                                          <p:val>
                                            <p:strVal val="#ppt_y+.1"/>
                                          </p:val>
                                        </p:tav>
                                        <p:tav tm="100000">
                                          <p:val>
                                            <p:strVal val="#ppt_y"/>
                                          </p:val>
                                        </p:tav>
                                      </p:tavLst>
                                    </p:anim>
                                  </p:childTnLst>
                                </p:cTn>
                              </p:par>
                            </p:childTnLst>
                          </p:cTn>
                        </p:par>
                      </p:childTnLst>
                    </p:cTn>
                  </p:par>
                  <p:par>
                    <p:cTn id="80" fill="hold">
                      <p:stCondLst>
                        <p:cond delay="indefinite"/>
                      </p:stCondLst>
                      <p:childTnLst>
                        <p:par>
                          <p:cTn id="81" fill="hold">
                            <p:stCondLst>
                              <p:cond delay="0"/>
                            </p:stCondLst>
                            <p:childTnLst>
                              <p:par>
                                <p:cTn id="82" presetID="42" presetClass="entr" presetSubtype="0" fill="hold" grpId="0" nodeType="clickEffect">
                                  <p:stCondLst>
                                    <p:cond delay="0"/>
                                  </p:stCondLst>
                                  <p:childTnLst>
                                    <p:set>
                                      <p:cBhvr>
                                        <p:cTn id="83" dur="1" fill="hold">
                                          <p:stCondLst>
                                            <p:cond delay="0"/>
                                          </p:stCondLst>
                                        </p:cTn>
                                        <p:tgtEl>
                                          <p:spTgt spid="10">
                                            <p:txEl>
                                              <p:pRg st="8" end="8"/>
                                            </p:txEl>
                                          </p:spTgt>
                                        </p:tgtEl>
                                        <p:attrNameLst>
                                          <p:attrName>style.visibility</p:attrName>
                                        </p:attrNameLst>
                                      </p:cBhvr>
                                      <p:to>
                                        <p:strVal val="visible"/>
                                      </p:to>
                                    </p:set>
                                    <p:animEffect transition="in" filter="fade">
                                      <p:cBhvr>
                                        <p:cTn id="84" dur="1000"/>
                                        <p:tgtEl>
                                          <p:spTgt spid="10">
                                            <p:txEl>
                                              <p:pRg st="8" end="8"/>
                                            </p:txEl>
                                          </p:spTgt>
                                        </p:tgtEl>
                                      </p:cBhvr>
                                    </p:animEffect>
                                    <p:anim calcmode="lin" valueType="num">
                                      <p:cBhvr>
                                        <p:cTn id="85" dur="1000" fill="hold"/>
                                        <p:tgtEl>
                                          <p:spTgt spid="10">
                                            <p:txEl>
                                              <p:pRg st="8" end="8"/>
                                            </p:txEl>
                                          </p:spTgt>
                                        </p:tgtEl>
                                        <p:attrNameLst>
                                          <p:attrName>ppt_x</p:attrName>
                                        </p:attrNameLst>
                                      </p:cBhvr>
                                      <p:tavLst>
                                        <p:tav tm="0">
                                          <p:val>
                                            <p:strVal val="#ppt_x"/>
                                          </p:val>
                                        </p:tav>
                                        <p:tav tm="100000">
                                          <p:val>
                                            <p:strVal val="#ppt_x"/>
                                          </p:val>
                                        </p:tav>
                                      </p:tavLst>
                                    </p:anim>
                                    <p:anim calcmode="lin" valueType="num">
                                      <p:cBhvr>
                                        <p:cTn id="86" dur="1000" fill="hold"/>
                                        <p:tgtEl>
                                          <p:spTgt spid="10">
                                            <p:txEl>
                                              <p:pRg st="8" end="8"/>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BC949A-E0FD-D4F3-51C6-7DED4C858441}"/>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D1332B92-1D49-BD7F-D375-AAAA6D921EFC}"/>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05280405-DD3D-FAD0-9C01-02B911C452CC}"/>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AD643EDB-F3A2-24BE-04F2-4905AA150E7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3B3C17A-BA78-9E57-FA2C-3825C2256F8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B2046DE2-8955-DCD2-11BA-C825D3EB6EFF}"/>
              </a:ext>
            </a:extLst>
          </p:cNvPr>
          <p:cNvSpPr>
            <a:spLocks noGrp="1"/>
          </p:cNvSpPr>
          <p:nvPr>
            <p:ph type="body" sz="quarter" idx="12"/>
          </p:nvPr>
        </p:nvSpPr>
        <p:spPr>
          <a:xfrm>
            <a:off x="457200" y="1201587"/>
            <a:ext cx="4310743" cy="5309706"/>
          </a:xfrm>
        </p:spPr>
        <p:txBody>
          <a:bodyPr>
            <a:normAutofit fontScale="55000" lnSpcReduction="20000"/>
          </a:bodyPr>
          <a:lstStyle/>
          <a:p>
            <a:r>
              <a:rPr lang="en-IN" b="1" dirty="0"/>
              <a:t>Correlation Matrix – Short Explanation</a:t>
            </a:r>
          </a:p>
          <a:p>
            <a:r>
              <a:rPr lang="en-IN" dirty="0"/>
              <a:t>The correlation matrix shows the relationships between numerical agricultural variables.</a:t>
            </a:r>
          </a:p>
          <a:p>
            <a:pPr lvl="0"/>
            <a:r>
              <a:rPr lang="en-IN" b="1" dirty="0"/>
              <a:t>Yield and Production:</a:t>
            </a:r>
            <a:r>
              <a:rPr lang="en-IN" dirty="0"/>
              <a:t> Strong positive correlation (</a:t>
            </a:r>
            <a:r>
              <a:rPr lang="en-IN" b="1" dirty="0"/>
              <a:t>0.88</a:t>
            </a:r>
            <a:r>
              <a:rPr lang="en-IN" dirty="0"/>
              <a:t>), meaning higher yield is generally associated with higher production. </a:t>
            </a:r>
          </a:p>
          <a:p>
            <a:pPr lvl="0"/>
            <a:r>
              <a:rPr lang="en-IN" b="1" dirty="0"/>
              <a:t>Yield and Water Efficiency:</a:t>
            </a:r>
            <a:r>
              <a:rPr lang="en-IN" dirty="0"/>
              <a:t> Very strong positive correlation (</a:t>
            </a:r>
            <a:r>
              <a:rPr lang="en-IN" b="1" dirty="0"/>
              <a:t>0.91</a:t>
            </a:r>
            <a:r>
              <a:rPr lang="en-IN" dirty="0"/>
              <a:t>), indicating that higher yield is strongly associated with better water efficiency. </a:t>
            </a:r>
          </a:p>
          <a:p>
            <a:pPr lvl="0"/>
            <a:r>
              <a:rPr lang="en-IN" b="1" dirty="0"/>
              <a:t>Revenue and Profit:</a:t>
            </a:r>
            <a:r>
              <a:rPr lang="en-IN" dirty="0"/>
              <a:t> Strong positive correlation (</a:t>
            </a:r>
            <a:r>
              <a:rPr lang="en-IN" b="1" dirty="0"/>
              <a:t>0.89</a:t>
            </a:r>
            <a:r>
              <a:rPr lang="en-IN" dirty="0"/>
              <a:t>), showing that higher revenue is generally associated with higher profit. </a:t>
            </a:r>
          </a:p>
          <a:p>
            <a:pPr lvl="0"/>
            <a:r>
              <a:rPr lang="en-IN" b="1" dirty="0"/>
              <a:t>Farm Area and Total Cost:</a:t>
            </a:r>
            <a:r>
              <a:rPr lang="en-IN" dirty="0"/>
              <a:t> Very strong positive correlation (</a:t>
            </a:r>
            <a:r>
              <a:rPr lang="en-IN" b="1" dirty="0"/>
              <a:t>0.96</a:t>
            </a:r>
            <a:r>
              <a:rPr lang="en-IN" dirty="0"/>
              <a:t>), indicating that larger farms generally have higher total costs. </a:t>
            </a:r>
          </a:p>
          <a:p>
            <a:pPr lvl="0"/>
            <a:r>
              <a:rPr lang="en-IN" b="1" dirty="0"/>
              <a:t>Production and Water Efficiency:</a:t>
            </a:r>
            <a:r>
              <a:rPr lang="en-IN" dirty="0"/>
              <a:t> Strong positive correlation (</a:t>
            </a:r>
            <a:r>
              <a:rPr lang="en-IN" b="1" dirty="0"/>
              <a:t>0.81</a:t>
            </a:r>
            <a:r>
              <a:rPr lang="en-IN" dirty="0"/>
              <a:t>). </a:t>
            </a:r>
          </a:p>
          <a:p>
            <a:pPr lvl="0"/>
            <a:r>
              <a:rPr lang="en-IN" b="1" dirty="0"/>
              <a:t>Rainfall and Disease/Pest Risk:</a:t>
            </a:r>
            <a:r>
              <a:rPr lang="en-IN" dirty="0"/>
              <a:t> Moderate positive correlation (</a:t>
            </a:r>
            <a:r>
              <a:rPr lang="en-IN" b="1" dirty="0"/>
              <a:t>0.62</a:t>
            </a:r>
            <a:r>
              <a:rPr lang="en-IN" dirty="0"/>
              <a:t>). </a:t>
            </a:r>
          </a:p>
          <a:p>
            <a:pPr lvl="0"/>
            <a:r>
              <a:rPr lang="en-IN" b="1" dirty="0"/>
              <a:t>Pesticide Usage and Disease/Pest Risk:</a:t>
            </a:r>
            <a:r>
              <a:rPr lang="en-IN" dirty="0"/>
              <a:t> Moderate negative correlation (</a:t>
            </a:r>
            <a:r>
              <a:rPr lang="en-IN" b="1" dirty="0"/>
              <a:t>-0.47</a:t>
            </a:r>
            <a:r>
              <a:rPr lang="en-IN" dirty="0"/>
              <a:t>). </a:t>
            </a:r>
          </a:p>
          <a:p>
            <a:pPr lvl="0"/>
            <a:r>
              <a:rPr lang="en-IN" b="1" dirty="0"/>
              <a:t>Sunlight and Rainfall:</a:t>
            </a:r>
            <a:r>
              <a:rPr lang="en-IN" dirty="0"/>
              <a:t> Moderate negative correlation (</a:t>
            </a:r>
            <a:r>
              <a:rPr lang="en-IN" b="1" dirty="0"/>
              <a:t>-0.36</a:t>
            </a:r>
            <a:r>
              <a:rPr lang="en-IN" dirty="0"/>
              <a:t>). </a:t>
            </a:r>
          </a:p>
          <a:p>
            <a:r>
              <a:rPr lang="en-IN" b="1" dirty="0"/>
              <a:t>Overall Interpretation:</a:t>
            </a:r>
            <a:r>
              <a:rPr lang="en-IN" dirty="0"/>
              <a:t> The matrix highlights important relationships among agricultural production, yield, resources, environmental conditions, and economic performance. However, these correlations show </a:t>
            </a:r>
            <a:r>
              <a:rPr lang="en-IN" b="1" dirty="0"/>
              <a:t>association, not causation</a:t>
            </a:r>
            <a:r>
              <a:rPr lang="en-IN" dirty="0"/>
              <a:t>.</a:t>
            </a:r>
          </a:p>
        </p:txBody>
      </p:sp>
      <p:pic>
        <p:nvPicPr>
          <p:cNvPr id="2" name="Picture 1">
            <a:extLst>
              <a:ext uri="{FF2B5EF4-FFF2-40B4-BE49-F238E27FC236}">
                <a16:creationId xmlns:a16="http://schemas.microsoft.com/office/drawing/2014/main" id="{EA114488-F0AB-B2B3-1BDE-0146D1A1C18B}"/>
              </a:ext>
            </a:extLst>
          </p:cNvPr>
          <p:cNvPicPr>
            <a:picLocks noChangeAspect="1"/>
          </p:cNvPicPr>
          <p:nvPr/>
        </p:nvPicPr>
        <p:blipFill>
          <a:blip r:embed="rId3"/>
          <a:stretch>
            <a:fillRect/>
          </a:stretch>
        </p:blipFill>
        <p:spPr>
          <a:xfrm>
            <a:off x="4767942" y="346707"/>
            <a:ext cx="7424058" cy="6318254"/>
          </a:xfrm>
          <a:prstGeom prst="rect">
            <a:avLst/>
          </a:prstGeom>
        </p:spPr>
      </p:pic>
    </p:spTree>
    <p:extLst>
      <p:ext uri="{BB962C8B-B14F-4D97-AF65-F5344CB8AC3E}">
        <p14:creationId xmlns:p14="http://schemas.microsoft.com/office/powerpoint/2010/main" val="7686016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10">
                                            <p:txEl>
                                              <p:pRg st="1" end="1"/>
                                            </p:txEl>
                                          </p:spTgt>
                                        </p:tgtEl>
                                        <p:attrNameLst>
                                          <p:attrName>style.visibility</p:attrName>
                                        </p:attrNameLst>
                                      </p:cBhvr>
                                      <p:to>
                                        <p:strVal val="visible"/>
                                      </p:to>
                                    </p:set>
                                    <p:animEffect transition="in" filter="fade">
                                      <p:cBhvr>
                                        <p:cTn id="35" dur="1000"/>
                                        <p:tgtEl>
                                          <p:spTgt spid="10">
                                            <p:txEl>
                                              <p:pRg st="1" end="1"/>
                                            </p:txEl>
                                          </p:spTgt>
                                        </p:tgtEl>
                                      </p:cBhvr>
                                    </p:animEffect>
                                    <p:anim calcmode="lin" valueType="num">
                                      <p:cBhvr>
                                        <p:cTn id="36" dur="1000" fill="hold"/>
                                        <p:tgtEl>
                                          <p:spTgt spid="10">
                                            <p:txEl>
                                              <p:pRg st="1" end="1"/>
                                            </p:txEl>
                                          </p:spTgt>
                                        </p:tgtEl>
                                        <p:attrNameLst>
                                          <p:attrName>ppt_x</p:attrName>
                                        </p:attrNameLst>
                                      </p:cBhvr>
                                      <p:tavLst>
                                        <p:tav tm="0">
                                          <p:val>
                                            <p:strVal val="#ppt_x"/>
                                          </p:val>
                                        </p:tav>
                                        <p:tav tm="100000">
                                          <p:val>
                                            <p:strVal val="#ppt_x"/>
                                          </p:val>
                                        </p:tav>
                                      </p:tavLst>
                                    </p:anim>
                                    <p:anim calcmode="lin" valueType="num">
                                      <p:cBhvr>
                                        <p:cTn id="37" dur="1000" fill="hold"/>
                                        <p:tgtEl>
                                          <p:spTgt spid="10">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10">
                                            <p:txEl>
                                              <p:pRg st="2" end="2"/>
                                            </p:txEl>
                                          </p:spTgt>
                                        </p:tgtEl>
                                        <p:attrNameLst>
                                          <p:attrName>style.visibility</p:attrName>
                                        </p:attrNameLst>
                                      </p:cBhvr>
                                      <p:to>
                                        <p:strVal val="visible"/>
                                      </p:to>
                                    </p:set>
                                    <p:animEffect transition="in" filter="fade">
                                      <p:cBhvr>
                                        <p:cTn id="42" dur="1000"/>
                                        <p:tgtEl>
                                          <p:spTgt spid="10">
                                            <p:txEl>
                                              <p:pRg st="2" end="2"/>
                                            </p:txEl>
                                          </p:spTgt>
                                        </p:tgtEl>
                                      </p:cBhvr>
                                    </p:animEffect>
                                    <p:anim calcmode="lin" valueType="num">
                                      <p:cBhvr>
                                        <p:cTn id="43" dur="1000" fill="hold"/>
                                        <p:tgtEl>
                                          <p:spTgt spid="10">
                                            <p:txEl>
                                              <p:pRg st="2" end="2"/>
                                            </p:txEl>
                                          </p:spTgt>
                                        </p:tgtEl>
                                        <p:attrNameLst>
                                          <p:attrName>ppt_x</p:attrName>
                                        </p:attrNameLst>
                                      </p:cBhvr>
                                      <p:tavLst>
                                        <p:tav tm="0">
                                          <p:val>
                                            <p:strVal val="#ppt_x"/>
                                          </p:val>
                                        </p:tav>
                                        <p:tav tm="100000">
                                          <p:val>
                                            <p:strVal val="#ppt_x"/>
                                          </p:val>
                                        </p:tav>
                                      </p:tavLst>
                                    </p:anim>
                                    <p:anim calcmode="lin" valueType="num">
                                      <p:cBhvr>
                                        <p:cTn id="44" dur="1000" fill="hold"/>
                                        <p:tgtEl>
                                          <p:spTgt spid="10">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10">
                                            <p:txEl>
                                              <p:pRg st="3" end="3"/>
                                            </p:txEl>
                                          </p:spTgt>
                                        </p:tgtEl>
                                        <p:attrNameLst>
                                          <p:attrName>style.visibility</p:attrName>
                                        </p:attrNameLst>
                                      </p:cBhvr>
                                      <p:to>
                                        <p:strVal val="visible"/>
                                      </p:to>
                                    </p:set>
                                    <p:animEffect transition="in" filter="fade">
                                      <p:cBhvr>
                                        <p:cTn id="49" dur="1000"/>
                                        <p:tgtEl>
                                          <p:spTgt spid="10">
                                            <p:txEl>
                                              <p:pRg st="3" end="3"/>
                                            </p:txEl>
                                          </p:spTgt>
                                        </p:tgtEl>
                                      </p:cBhvr>
                                    </p:animEffect>
                                    <p:anim calcmode="lin" valueType="num">
                                      <p:cBhvr>
                                        <p:cTn id="50" dur="1000" fill="hold"/>
                                        <p:tgtEl>
                                          <p:spTgt spid="10">
                                            <p:txEl>
                                              <p:pRg st="3" end="3"/>
                                            </p:txEl>
                                          </p:spTgt>
                                        </p:tgtEl>
                                        <p:attrNameLst>
                                          <p:attrName>ppt_x</p:attrName>
                                        </p:attrNameLst>
                                      </p:cBhvr>
                                      <p:tavLst>
                                        <p:tav tm="0">
                                          <p:val>
                                            <p:strVal val="#ppt_x"/>
                                          </p:val>
                                        </p:tav>
                                        <p:tav tm="100000">
                                          <p:val>
                                            <p:strVal val="#ppt_x"/>
                                          </p:val>
                                        </p:tav>
                                      </p:tavLst>
                                    </p:anim>
                                    <p:anim calcmode="lin" valueType="num">
                                      <p:cBhvr>
                                        <p:cTn id="51" dur="1000" fill="hold"/>
                                        <p:tgtEl>
                                          <p:spTgt spid="10">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10">
                                            <p:txEl>
                                              <p:pRg st="4" end="4"/>
                                            </p:txEl>
                                          </p:spTgt>
                                        </p:tgtEl>
                                        <p:attrNameLst>
                                          <p:attrName>style.visibility</p:attrName>
                                        </p:attrNameLst>
                                      </p:cBhvr>
                                      <p:to>
                                        <p:strVal val="visible"/>
                                      </p:to>
                                    </p:set>
                                    <p:animEffect transition="in" filter="fade">
                                      <p:cBhvr>
                                        <p:cTn id="56" dur="1000"/>
                                        <p:tgtEl>
                                          <p:spTgt spid="10">
                                            <p:txEl>
                                              <p:pRg st="4" end="4"/>
                                            </p:txEl>
                                          </p:spTgt>
                                        </p:tgtEl>
                                      </p:cBhvr>
                                    </p:animEffect>
                                    <p:anim calcmode="lin" valueType="num">
                                      <p:cBhvr>
                                        <p:cTn id="57" dur="1000" fill="hold"/>
                                        <p:tgtEl>
                                          <p:spTgt spid="10">
                                            <p:txEl>
                                              <p:pRg st="4" end="4"/>
                                            </p:txEl>
                                          </p:spTgt>
                                        </p:tgtEl>
                                        <p:attrNameLst>
                                          <p:attrName>ppt_x</p:attrName>
                                        </p:attrNameLst>
                                      </p:cBhvr>
                                      <p:tavLst>
                                        <p:tav tm="0">
                                          <p:val>
                                            <p:strVal val="#ppt_x"/>
                                          </p:val>
                                        </p:tav>
                                        <p:tav tm="100000">
                                          <p:val>
                                            <p:strVal val="#ppt_x"/>
                                          </p:val>
                                        </p:tav>
                                      </p:tavLst>
                                    </p:anim>
                                    <p:anim calcmode="lin" valueType="num">
                                      <p:cBhvr>
                                        <p:cTn id="58" dur="1000" fill="hold"/>
                                        <p:tgtEl>
                                          <p:spTgt spid="10">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42" presetClass="entr" presetSubtype="0" fill="hold" grpId="0" nodeType="clickEffect">
                                  <p:stCondLst>
                                    <p:cond delay="0"/>
                                  </p:stCondLst>
                                  <p:childTnLst>
                                    <p:set>
                                      <p:cBhvr>
                                        <p:cTn id="62" dur="1" fill="hold">
                                          <p:stCondLst>
                                            <p:cond delay="0"/>
                                          </p:stCondLst>
                                        </p:cTn>
                                        <p:tgtEl>
                                          <p:spTgt spid="10">
                                            <p:txEl>
                                              <p:pRg st="5" end="5"/>
                                            </p:txEl>
                                          </p:spTgt>
                                        </p:tgtEl>
                                        <p:attrNameLst>
                                          <p:attrName>style.visibility</p:attrName>
                                        </p:attrNameLst>
                                      </p:cBhvr>
                                      <p:to>
                                        <p:strVal val="visible"/>
                                      </p:to>
                                    </p:set>
                                    <p:animEffect transition="in" filter="fade">
                                      <p:cBhvr>
                                        <p:cTn id="63" dur="1000"/>
                                        <p:tgtEl>
                                          <p:spTgt spid="10">
                                            <p:txEl>
                                              <p:pRg st="5" end="5"/>
                                            </p:txEl>
                                          </p:spTgt>
                                        </p:tgtEl>
                                      </p:cBhvr>
                                    </p:animEffect>
                                    <p:anim calcmode="lin" valueType="num">
                                      <p:cBhvr>
                                        <p:cTn id="64" dur="1000" fill="hold"/>
                                        <p:tgtEl>
                                          <p:spTgt spid="10">
                                            <p:txEl>
                                              <p:pRg st="5" end="5"/>
                                            </p:txEl>
                                          </p:spTgt>
                                        </p:tgtEl>
                                        <p:attrNameLst>
                                          <p:attrName>ppt_x</p:attrName>
                                        </p:attrNameLst>
                                      </p:cBhvr>
                                      <p:tavLst>
                                        <p:tav tm="0">
                                          <p:val>
                                            <p:strVal val="#ppt_x"/>
                                          </p:val>
                                        </p:tav>
                                        <p:tav tm="100000">
                                          <p:val>
                                            <p:strVal val="#ppt_x"/>
                                          </p:val>
                                        </p:tav>
                                      </p:tavLst>
                                    </p:anim>
                                    <p:anim calcmode="lin" valueType="num">
                                      <p:cBhvr>
                                        <p:cTn id="65" dur="1000" fill="hold"/>
                                        <p:tgtEl>
                                          <p:spTgt spid="10">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8" presetID="42" presetClass="entr" presetSubtype="0" fill="hold" grpId="0" nodeType="clickEffect">
                                  <p:stCondLst>
                                    <p:cond delay="0"/>
                                  </p:stCondLst>
                                  <p:childTnLst>
                                    <p:set>
                                      <p:cBhvr>
                                        <p:cTn id="69" dur="1" fill="hold">
                                          <p:stCondLst>
                                            <p:cond delay="0"/>
                                          </p:stCondLst>
                                        </p:cTn>
                                        <p:tgtEl>
                                          <p:spTgt spid="10">
                                            <p:txEl>
                                              <p:pRg st="6" end="6"/>
                                            </p:txEl>
                                          </p:spTgt>
                                        </p:tgtEl>
                                        <p:attrNameLst>
                                          <p:attrName>style.visibility</p:attrName>
                                        </p:attrNameLst>
                                      </p:cBhvr>
                                      <p:to>
                                        <p:strVal val="visible"/>
                                      </p:to>
                                    </p:set>
                                    <p:animEffect transition="in" filter="fade">
                                      <p:cBhvr>
                                        <p:cTn id="70" dur="1000"/>
                                        <p:tgtEl>
                                          <p:spTgt spid="10">
                                            <p:txEl>
                                              <p:pRg st="6" end="6"/>
                                            </p:txEl>
                                          </p:spTgt>
                                        </p:tgtEl>
                                      </p:cBhvr>
                                    </p:animEffect>
                                    <p:anim calcmode="lin" valueType="num">
                                      <p:cBhvr>
                                        <p:cTn id="71" dur="1000" fill="hold"/>
                                        <p:tgtEl>
                                          <p:spTgt spid="10">
                                            <p:txEl>
                                              <p:pRg st="6" end="6"/>
                                            </p:txEl>
                                          </p:spTgt>
                                        </p:tgtEl>
                                        <p:attrNameLst>
                                          <p:attrName>ppt_x</p:attrName>
                                        </p:attrNameLst>
                                      </p:cBhvr>
                                      <p:tavLst>
                                        <p:tav tm="0">
                                          <p:val>
                                            <p:strVal val="#ppt_x"/>
                                          </p:val>
                                        </p:tav>
                                        <p:tav tm="100000">
                                          <p:val>
                                            <p:strVal val="#ppt_x"/>
                                          </p:val>
                                        </p:tav>
                                      </p:tavLst>
                                    </p:anim>
                                    <p:anim calcmode="lin" valueType="num">
                                      <p:cBhvr>
                                        <p:cTn id="72" dur="1000" fill="hold"/>
                                        <p:tgtEl>
                                          <p:spTgt spid="10">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5" presetID="42" presetClass="entr" presetSubtype="0" fill="hold" grpId="0" nodeType="clickEffect">
                                  <p:stCondLst>
                                    <p:cond delay="0"/>
                                  </p:stCondLst>
                                  <p:childTnLst>
                                    <p:set>
                                      <p:cBhvr>
                                        <p:cTn id="76" dur="1" fill="hold">
                                          <p:stCondLst>
                                            <p:cond delay="0"/>
                                          </p:stCondLst>
                                        </p:cTn>
                                        <p:tgtEl>
                                          <p:spTgt spid="10">
                                            <p:txEl>
                                              <p:pRg st="7" end="7"/>
                                            </p:txEl>
                                          </p:spTgt>
                                        </p:tgtEl>
                                        <p:attrNameLst>
                                          <p:attrName>style.visibility</p:attrName>
                                        </p:attrNameLst>
                                      </p:cBhvr>
                                      <p:to>
                                        <p:strVal val="visible"/>
                                      </p:to>
                                    </p:set>
                                    <p:animEffect transition="in" filter="fade">
                                      <p:cBhvr>
                                        <p:cTn id="77" dur="1000"/>
                                        <p:tgtEl>
                                          <p:spTgt spid="10">
                                            <p:txEl>
                                              <p:pRg st="7" end="7"/>
                                            </p:txEl>
                                          </p:spTgt>
                                        </p:tgtEl>
                                      </p:cBhvr>
                                    </p:animEffect>
                                    <p:anim calcmode="lin" valueType="num">
                                      <p:cBhvr>
                                        <p:cTn id="78" dur="1000" fill="hold"/>
                                        <p:tgtEl>
                                          <p:spTgt spid="10">
                                            <p:txEl>
                                              <p:pRg st="7" end="7"/>
                                            </p:txEl>
                                          </p:spTgt>
                                        </p:tgtEl>
                                        <p:attrNameLst>
                                          <p:attrName>ppt_x</p:attrName>
                                        </p:attrNameLst>
                                      </p:cBhvr>
                                      <p:tavLst>
                                        <p:tav tm="0">
                                          <p:val>
                                            <p:strVal val="#ppt_x"/>
                                          </p:val>
                                        </p:tav>
                                        <p:tav tm="100000">
                                          <p:val>
                                            <p:strVal val="#ppt_x"/>
                                          </p:val>
                                        </p:tav>
                                      </p:tavLst>
                                    </p:anim>
                                    <p:anim calcmode="lin" valueType="num">
                                      <p:cBhvr>
                                        <p:cTn id="79" dur="1000" fill="hold"/>
                                        <p:tgtEl>
                                          <p:spTgt spid="10">
                                            <p:txEl>
                                              <p:pRg st="7" end="7"/>
                                            </p:txEl>
                                          </p:spTgt>
                                        </p:tgtEl>
                                        <p:attrNameLst>
                                          <p:attrName>ppt_y</p:attrName>
                                        </p:attrNameLst>
                                      </p:cBhvr>
                                      <p:tavLst>
                                        <p:tav tm="0">
                                          <p:val>
                                            <p:strVal val="#ppt_y+.1"/>
                                          </p:val>
                                        </p:tav>
                                        <p:tav tm="100000">
                                          <p:val>
                                            <p:strVal val="#ppt_y"/>
                                          </p:val>
                                        </p:tav>
                                      </p:tavLst>
                                    </p:anim>
                                  </p:childTnLst>
                                </p:cTn>
                              </p:par>
                            </p:childTnLst>
                          </p:cTn>
                        </p:par>
                      </p:childTnLst>
                    </p:cTn>
                  </p:par>
                  <p:par>
                    <p:cTn id="80" fill="hold">
                      <p:stCondLst>
                        <p:cond delay="indefinite"/>
                      </p:stCondLst>
                      <p:childTnLst>
                        <p:par>
                          <p:cTn id="81" fill="hold">
                            <p:stCondLst>
                              <p:cond delay="0"/>
                            </p:stCondLst>
                            <p:childTnLst>
                              <p:par>
                                <p:cTn id="82" presetID="42" presetClass="entr" presetSubtype="0" fill="hold" grpId="0" nodeType="clickEffect">
                                  <p:stCondLst>
                                    <p:cond delay="0"/>
                                  </p:stCondLst>
                                  <p:childTnLst>
                                    <p:set>
                                      <p:cBhvr>
                                        <p:cTn id="83" dur="1" fill="hold">
                                          <p:stCondLst>
                                            <p:cond delay="0"/>
                                          </p:stCondLst>
                                        </p:cTn>
                                        <p:tgtEl>
                                          <p:spTgt spid="10">
                                            <p:txEl>
                                              <p:pRg st="8" end="8"/>
                                            </p:txEl>
                                          </p:spTgt>
                                        </p:tgtEl>
                                        <p:attrNameLst>
                                          <p:attrName>style.visibility</p:attrName>
                                        </p:attrNameLst>
                                      </p:cBhvr>
                                      <p:to>
                                        <p:strVal val="visible"/>
                                      </p:to>
                                    </p:set>
                                    <p:animEffect transition="in" filter="fade">
                                      <p:cBhvr>
                                        <p:cTn id="84" dur="1000"/>
                                        <p:tgtEl>
                                          <p:spTgt spid="10">
                                            <p:txEl>
                                              <p:pRg st="8" end="8"/>
                                            </p:txEl>
                                          </p:spTgt>
                                        </p:tgtEl>
                                      </p:cBhvr>
                                    </p:animEffect>
                                    <p:anim calcmode="lin" valueType="num">
                                      <p:cBhvr>
                                        <p:cTn id="85" dur="1000" fill="hold"/>
                                        <p:tgtEl>
                                          <p:spTgt spid="10">
                                            <p:txEl>
                                              <p:pRg st="8" end="8"/>
                                            </p:txEl>
                                          </p:spTgt>
                                        </p:tgtEl>
                                        <p:attrNameLst>
                                          <p:attrName>ppt_x</p:attrName>
                                        </p:attrNameLst>
                                      </p:cBhvr>
                                      <p:tavLst>
                                        <p:tav tm="0">
                                          <p:val>
                                            <p:strVal val="#ppt_x"/>
                                          </p:val>
                                        </p:tav>
                                        <p:tav tm="100000">
                                          <p:val>
                                            <p:strVal val="#ppt_x"/>
                                          </p:val>
                                        </p:tav>
                                      </p:tavLst>
                                    </p:anim>
                                    <p:anim calcmode="lin" valueType="num">
                                      <p:cBhvr>
                                        <p:cTn id="86" dur="1000" fill="hold"/>
                                        <p:tgtEl>
                                          <p:spTgt spid="10">
                                            <p:txEl>
                                              <p:pRg st="8" end="8"/>
                                            </p:txEl>
                                          </p:spTgt>
                                        </p:tgtEl>
                                        <p:attrNameLst>
                                          <p:attrName>ppt_y</p:attrName>
                                        </p:attrNameLst>
                                      </p:cBhvr>
                                      <p:tavLst>
                                        <p:tav tm="0">
                                          <p:val>
                                            <p:strVal val="#ppt_y+.1"/>
                                          </p:val>
                                        </p:tav>
                                        <p:tav tm="100000">
                                          <p:val>
                                            <p:strVal val="#ppt_y"/>
                                          </p:val>
                                        </p:tav>
                                      </p:tavLst>
                                    </p:anim>
                                  </p:childTnLst>
                                </p:cTn>
                              </p:par>
                            </p:childTnLst>
                          </p:cTn>
                        </p:par>
                      </p:childTnLst>
                    </p:cTn>
                  </p:par>
                  <p:par>
                    <p:cTn id="87" fill="hold">
                      <p:stCondLst>
                        <p:cond delay="indefinite"/>
                      </p:stCondLst>
                      <p:childTnLst>
                        <p:par>
                          <p:cTn id="88" fill="hold">
                            <p:stCondLst>
                              <p:cond delay="0"/>
                            </p:stCondLst>
                            <p:childTnLst>
                              <p:par>
                                <p:cTn id="89" presetID="42" presetClass="entr" presetSubtype="0" fill="hold" grpId="0" nodeType="clickEffect">
                                  <p:stCondLst>
                                    <p:cond delay="0"/>
                                  </p:stCondLst>
                                  <p:childTnLst>
                                    <p:set>
                                      <p:cBhvr>
                                        <p:cTn id="90" dur="1" fill="hold">
                                          <p:stCondLst>
                                            <p:cond delay="0"/>
                                          </p:stCondLst>
                                        </p:cTn>
                                        <p:tgtEl>
                                          <p:spTgt spid="10">
                                            <p:txEl>
                                              <p:pRg st="9" end="9"/>
                                            </p:txEl>
                                          </p:spTgt>
                                        </p:tgtEl>
                                        <p:attrNameLst>
                                          <p:attrName>style.visibility</p:attrName>
                                        </p:attrNameLst>
                                      </p:cBhvr>
                                      <p:to>
                                        <p:strVal val="visible"/>
                                      </p:to>
                                    </p:set>
                                    <p:animEffect transition="in" filter="fade">
                                      <p:cBhvr>
                                        <p:cTn id="91" dur="1000"/>
                                        <p:tgtEl>
                                          <p:spTgt spid="10">
                                            <p:txEl>
                                              <p:pRg st="9" end="9"/>
                                            </p:txEl>
                                          </p:spTgt>
                                        </p:tgtEl>
                                      </p:cBhvr>
                                    </p:animEffect>
                                    <p:anim calcmode="lin" valueType="num">
                                      <p:cBhvr>
                                        <p:cTn id="92" dur="1000" fill="hold"/>
                                        <p:tgtEl>
                                          <p:spTgt spid="10">
                                            <p:txEl>
                                              <p:pRg st="9" end="9"/>
                                            </p:txEl>
                                          </p:spTgt>
                                        </p:tgtEl>
                                        <p:attrNameLst>
                                          <p:attrName>ppt_x</p:attrName>
                                        </p:attrNameLst>
                                      </p:cBhvr>
                                      <p:tavLst>
                                        <p:tav tm="0">
                                          <p:val>
                                            <p:strVal val="#ppt_x"/>
                                          </p:val>
                                        </p:tav>
                                        <p:tav tm="100000">
                                          <p:val>
                                            <p:strVal val="#ppt_x"/>
                                          </p:val>
                                        </p:tav>
                                      </p:tavLst>
                                    </p:anim>
                                    <p:anim calcmode="lin" valueType="num">
                                      <p:cBhvr>
                                        <p:cTn id="93" dur="1000" fill="hold"/>
                                        <p:tgtEl>
                                          <p:spTgt spid="10">
                                            <p:txEl>
                                              <p:pRg st="9" end="9"/>
                                            </p:txEl>
                                          </p:spTgt>
                                        </p:tgtEl>
                                        <p:attrNameLst>
                                          <p:attrName>ppt_y</p:attrName>
                                        </p:attrNameLst>
                                      </p:cBhvr>
                                      <p:tavLst>
                                        <p:tav tm="0">
                                          <p:val>
                                            <p:strVal val="#ppt_y+.1"/>
                                          </p:val>
                                        </p:tav>
                                        <p:tav tm="100000">
                                          <p:val>
                                            <p:strVal val="#ppt_y"/>
                                          </p:val>
                                        </p:tav>
                                      </p:tavLst>
                                    </p:anim>
                                  </p:childTnLst>
                                </p:cTn>
                              </p:par>
                            </p:childTnLst>
                          </p:cTn>
                        </p:par>
                      </p:childTnLst>
                    </p:cTn>
                  </p:par>
                  <p:par>
                    <p:cTn id="94" fill="hold">
                      <p:stCondLst>
                        <p:cond delay="indefinite"/>
                      </p:stCondLst>
                      <p:childTnLst>
                        <p:par>
                          <p:cTn id="95" fill="hold">
                            <p:stCondLst>
                              <p:cond delay="0"/>
                            </p:stCondLst>
                            <p:childTnLst>
                              <p:par>
                                <p:cTn id="96" presetID="42" presetClass="entr" presetSubtype="0" fill="hold" grpId="0" nodeType="clickEffect">
                                  <p:stCondLst>
                                    <p:cond delay="0"/>
                                  </p:stCondLst>
                                  <p:childTnLst>
                                    <p:set>
                                      <p:cBhvr>
                                        <p:cTn id="97" dur="1" fill="hold">
                                          <p:stCondLst>
                                            <p:cond delay="0"/>
                                          </p:stCondLst>
                                        </p:cTn>
                                        <p:tgtEl>
                                          <p:spTgt spid="10">
                                            <p:txEl>
                                              <p:pRg st="10" end="10"/>
                                            </p:txEl>
                                          </p:spTgt>
                                        </p:tgtEl>
                                        <p:attrNameLst>
                                          <p:attrName>style.visibility</p:attrName>
                                        </p:attrNameLst>
                                      </p:cBhvr>
                                      <p:to>
                                        <p:strVal val="visible"/>
                                      </p:to>
                                    </p:set>
                                    <p:animEffect transition="in" filter="fade">
                                      <p:cBhvr>
                                        <p:cTn id="98" dur="1000"/>
                                        <p:tgtEl>
                                          <p:spTgt spid="10">
                                            <p:txEl>
                                              <p:pRg st="10" end="10"/>
                                            </p:txEl>
                                          </p:spTgt>
                                        </p:tgtEl>
                                      </p:cBhvr>
                                    </p:animEffect>
                                    <p:anim calcmode="lin" valueType="num">
                                      <p:cBhvr>
                                        <p:cTn id="99" dur="1000" fill="hold"/>
                                        <p:tgtEl>
                                          <p:spTgt spid="10">
                                            <p:txEl>
                                              <p:pRg st="10" end="10"/>
                                            </p:txEl>
                                          </p:spTgt>
                                        </p:tgtEl>
                                        <p:attrNameLst>
                                          <p:attrName>ppt_x</p:attrName>
                                        </p:attrNameLst>
                                      </p:cBhvr>
                                      <p:tavLst>
                                        <p:tav tm="0">
                                          <p:val>
                                            <p:strVal val="#ppt_x"/>
                                          </p:val>
                                        </p:tav>
                                        <p:tav tm="100000">
                                          <p:val>
                                            <p:strVal val="#ppt_x"/>
                                          </p:val>
                                        </p:tav>
                                      </p:tavLst>
                                    </p:anim>
                                    <p:anim calcmode="lin" valueType="num">
                                      <p:cBhvr>
                                        <p:cTn id="100" dur="1000" fill="hold"/>
                                        <p:tgtEl>
                                          <p:spTgt spid="10">
                                            <p:txEl>
                                              <p:pRg st="10" end="1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30C45-6A74-29AD-A5C0-D5F36592DB6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E7611FF-D6E5-400F-ED75-6F5531CFA95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9E35150-35BD-1B1F-9A8C-890DBFDF3B54}"/>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5A2A9BCE-A757-223C-2A3D-44341FB27A6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1EED58A7-2CD5-1355-8D1D-DD62A1ED8C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F85C769B-425A-FE3B-E47A-3B747985DC52}"/>
              </a:ext>
            </a:extLst>
          </p:cNvPr>
          <p:cNvSpPr>
            <a:spLocks noGrp="1"/>
          </p:cNvSpPr>
          <p:nvPr>
            <p:ph type="body" sz="quarter" idx="12"/>
          </p:nvPr>
        </p:nvSpPr>
        <p:spPr>
          <a:xfrm>
            <a:off x="559837" y="1201586"/>
            <a:ext cx="5008645" cy="5171221"/>
          </a:xfrm>
        </p:spPr>
        <p:txBody>
          <a:bodyPr>
            <a:normAutofit fontScale="70000" lnSpcReduction="20000"/>
          </a:bodyPr>
          <a:lstStyle/>
          <a:p>
            <a:r>
              <a:rPr lang="en-IN" b="1" dirty="0"/>
              <a:t>Rainfall, Yield and Seasonal Differences – Short Explanation</a:t>
            </a:r>
          </a:p>
          <a:p>
            <a:r>
              <a:rPr lang="en-IN" dirty="0"/>
              <a:t>The scatter plot shows the relationship between </a:t>
            </a:r>
            <a:r>
              <a:rPr lang="en-IN" b="1" dirty="0"/>
              <a:t>rainfall and crop yield across Kharif, Rabi, and Zaid seasons</a:t>
            </a:r>
            <a:r>
              <a:rPr lang="en-IN" dirty="0"/>
              <a:t>.</a:t>
            </a:r>
          </a:p>
          <a:p>
            <a:pPr lvl="0"/>
            <a:r>
              <a:rPr lang="en-IN" b="1" dirty="0"/>
              <a:t>Kharif</a:t>
            </a:r>
            <a:r>
              <a:rPr lang="en-IN" dirty="0"/>
              <a:t> generally has higher rainfall, with several observations showing higher yields. </a:t>
            </a:r>
          </a:p>
          <a:p>
            <a:pPr lvl="0"/>
            <a:r>
              <a:rPr lang="en-IN" b="1" dirty="0"/>
              <a:t>Rabi</a:t>
            </a:r>
            <a:r>
              <a:rPr lang="en-IN" dirty="0"/>
              <a:t> covers a wide range of rainfall and yield values, showing considerable variation. </a:t>
            </a:r>
          </a:p>
          <a:p>
            <a:pPr lvl="0"/>
            <a:r>
              <a:rPr lang="en-IN" b="1" dirty="0"/>
              <a:t>Zaid</a:t>
            </a:r>
            <a:r>
              <a:rPr lang="en-IN" dirty="0"/>
              <a:t> generally occurs at lower rainfall levels, with moderate yield values. </a:t>
            </a:r>
          </a:p>
          <a:p>
            <a:pPr lvl="0"/>
            <a:r>
              <a:rPr lang="en-IN" dirty="0"/>
              <a:t>The plot suggests that </a:t>
            </a:r>
            <a:r>
              <a:rPr lang="en-IN" b="1" dirty="0"/>
              <a:t>higher rainfall does not always result in higher yield</a:t>
            </a:r>
            <a:r>
              <a:rPr lang="en-IN" dirty="0"/>
              <a:t>, as many observations have low yields even with substantial rainfall. </a:t>
            </a:r>
          </a:p>
          <a:p>
            <a:pPr lvl="0"/>
            <a:r>
              <a:rPr lang="en-IN" dirty="0"/>
              <a:t>Larger bubbles represent farms with larger </a:t>
            </a:r>
            <a:r>
              <a:rPr lang="en-IN" b="1" dirty="0"/>
              <a:t>farm areas</a:t>
            </a:r>
            <a:r>
              <a:rPr lang="en-IN" dirty="0"/>
              <a:t>. </a:t>
            </a:r>
          </a:p>
          <a:p>
            <a:endParaRPr lang="en-IN" b="1" dirty="0"/>
          </a:p>
          <a:p>
            <a:r>
              <a:rPr lang="en-IN" b="1" dirty="0"/>
              <a:t>Overall Interpretation:</a:t>
            </a:r>
            <a:r>
              <a:rPr lang="en-IN" dirty="0"/>
              <a:t> Seasonal conditions and rainfall are associated with differences in crop yield, but rainfall alone does not determine yield. Other factors such as crop type, soil conditions, irrigation, and farming practices may also influence agricultural performance.</a:t>
            </a:r>
          </a:p>
        </p:txBody>
      </p:sp>
      <p:pic>
        <p:nvPicPr>
          <p:cNvPr id="2" name="Picture 1">
            <a:extLst>
              <a:ext uri="{FF2B5EF4-FFF2-40B4-BE49-F238E27FC236}">
                <a16:creationId xmlns:a16="http://schemas.microsoft.com/office/drawing/2014/main" id="{B235C9A2-5C33-E5F1-6A8A-2C299DD1C2C2}"/>
              </a:ext>
            </a:extLst>
          </p:cNvPr>
          <p:cNvPicPr>
            <a:picLocks noChangeAspect="1"/>
          </p:cNvPicPr>
          <p:nvPr/>
        </p:nvPicPr>
        <p:blipFill>
          <a:blip r:embed="rId3"/>
          <a:stretch>
            <a:fillRect/>
          </a:stretch>
        </p:blipFill>
        <p:spPr>
          <a:xfrm>
            <a:off x="5568483" y="651502"/>
            <a:ext cx="6526033" cy="5916938"/>
          </a:xfrm>
          <a:prstGeom prst="rect">
            <a:avLst/>
          </a:prstGeom>
        </p:spPr>
      </p:pic>
    </p:spTree>
    <p:extLst>
      <p:ext uri="{BB962C8B-B14F-4D97-AF65-F5344CB8AC3E}">
        <p14:creationId xmlns:p14="http://schemas.microsoft.com/office/powerpoint/2010/main" val="1421522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10">
                                            <p:txEl>
                                              <p:pRg st="1" end="1"/>
                                            </p:txEl>
                                          </p:spTgt>
                                        </p:tgtEl>
                                        <p:attrNameLst>
                                          <p:attrName>style.visibility</p:attrName>
                                        </p:attrNameLst>
                                      </p:cBhvr>
                                      <p:to>
                                        <p:strVal val="visible"/>
                                      </p:to>
                                    </p:set>
                                    <p:animEffect transition="in" filter="fade">
                                      <p:cBhvr>
                                        <p:cTn id="35" dur="1000"/>
                                        <p:tgtEl>
                                          <p:spTgt spid="10">
                                            <p:txEl>
                                              <p:pRg st="1" end="1"/>
                                            </p:txEl>
                                          </p:spTgt>
                                        </p:tgtEl>
                                      </p:cBhvr>
                                    </p:animEffect>
                                    <p:anim calcmode="lin" valueType="num">
                                      <p:cBhvr>
                                        <p:cTn id="36" dur="1000" fill="hold"/>
                                        <p:tgtEl>
                                          <p:spTgt spid="10">
                                            <p:txEl>
                                              <p:pRg st="1" end="1"/>
                                            </p:txEl>
                                          </p:spTgt>
                                        </p:tgtEl>
                                        <p:attrNameLst>
                                          <p:attrName>ppt_x</p:attrName>
                                        </p:attrNameLst>
                                      </p:cBhvr>
                                      <p:tavLst>
                                        <p:tav tm="0">
                                          <p:val>
                                            <p:strVal val="#ppt_x"/>
                                          </p:val>
                                        </p:tav>
                                        <p:tav tm="100000">
                                          <p:val>
                                            <p:strVal val="#ppt_x"/>
                                          </p:val>
                                        </p:tav>
                                      </p:tavLst>
                                    </p:anim>
                                    <p:anim calcmode="lin" valueType="num">
                                      <p:cBhvr>
                                        <p:cTn id="37" dur="1000" fill="hold"/>
                                        <p:tgtEl>
                                          <p:spTgt spid="10">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10">
                                            <p:txEl>
                                              <p:pRg st="2" end="2"/>
                                            </p:txEl>
                                          </p:spTgt>
                                        </p:tgtEl>
                                        <p:attrNameLst>
                                          <p:attrName>style.visibility</p:attrName>
                                        </p:attrNameLst>
                                      </p:cBhvr>
                                      <p:to>
                                        <p:strVal val="visible"/>
                                      </p:to>
                                    </p:set>
                                    <p:animEffect transition="in" filter="fade">
                                      <p:cBhvr>
                                        <p:cTn id="42" dur="1000"/>
                                        <p:tgtEl>
                                          <p:spTgt spid="10">
                                            <p:txEl>
                                              <p:pRg st="2" end="2"/>
                                            </p:txEl>
                                          </p:spTgt>
                                        </p:tgtEl>
                                      </p:cBhvr>
                                    </p:animEffect>
                                    <p:anim calcmode="lin" valueType="num">
                                      <p:cBhvr>
                                        <p:cTn id="43" dur="1000" fill="hold"/>
                                        <p:tgtEl>
                                          <p:spTgt spid="10">
                                            <p:txEl>
                                              <p:pRg st="2" end="2"/>
                                            </p:txEl>
                                          </p:spTgt>
                                        </p:tgtEl>
                                        <p:attrNameLst>
                                          <p:attrName>ppt_x</p:attrName>
                                        </p:attrNameLst>
                                      </p:cBhvr>
                                      <p:tavLst>
                                        <p:tav tm="0">
                                          <p:val>
                                            <p:strVal val="#ppt_x"/>
                                          </p:val>
                                        </p:tav>
                                        <p:tav tm="100000">
                                          <p:val>
                                            <p:strVal val="#ppt_x"/>
                                          </p:val>
                                        </p:tav>
                                      </p:tavLst>
                                    </p:anim>
                                    <p:anim calcmode="lin" valueType="num">
                                      <p:cBhvr>
                                        <p:cTn id="44" dur="1000" fill="hold"/>
                                        <p:tgtEl>
                                          <p:spTgt spid="10">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10">
                                            <p:txEl>
                                              <p:pRg st="3" end="3"/>
                                            </p:txEl>
                                          </p:spTgt>
                                        </p:tgtEl>
                                        <p:attrNameLst>
                                          <p:attrName>style.visibility</p:attrName>
                                        </p:attrNameLst>
                                      </p:cBhvr>
                                      <p:to>
                                        <p:strVal val="visible"/>
                                      </p:to>
                                    </p:set>
                                    <p:animEffect transition="in" filter="fade">
                                      <p:cBhvr>
                                        <p:cTn id="49" dur="1000"/>
                                        <p:tgtEl>
                                          <p:spTgt spid="10">
                                            <p:txEl>
                                              <p:pRg st="3" end="3"/>
                                            </p:txEl>
                                          </p:spTgt>
                                        </p:tgtEl>
                                      </p:cBhvr>
                                    </p:animEffect>
                                    <p:anim calcmode="lin" valueType="num">
                                      <p:cBhvr>
                                        <p:cTn id="50" dur="1000" fill="hold"/>
                                        <p:tgtEl>
                                          <p:spTgt spid="10">
                                            <p:txEl>
                                              <p:pRg st="3" end="3"/>
                                            </p:txEl>
                                          </p:spTgt>
                                        </p:tgtEl>
                                        <p:attrNameLst>
                                          <p:attrName>ppt_x</p:attrName>
                                        </p:attrNameLst>
                                      </p:cBhvr>
                                      <p:tavLst>
                                        <p:tav tm="0">
                                          <p:val>
                                            <p:strVal val="#ppt_x"/>
                                          </p:val>
                                        </p:tav>
                                        <p:tav tm="100000">
                                          <p:val>
                                            <p:strVal val="#ppt_x"/>
                                          </p:val>
                                        </p:tav>
                                      </p:tavLst>
                                    </p:anim>
                                    <p:anim calcmode="lin" valueType="num">
                                      <p:cBhvr>
                                        <p:cTn id="51" dur="1000" fill="hold"/>
                                        <p:tgtEl>
                                          <p:spTgt spid="10">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10">
                                            <p:txEl>
                                              <p:pRg st="4" end="4"/>
                                            </p:txEl>
                                          </p:spTgt>
                                        </p:tgtEl>
                                        <p:attrNameLst>
                                          <p:attrName>style.visibility</p:attrName>
                                        </p:attrNameLst>
                                      </p:cBhvr>
                                      <p:to>
                                        <p:strVal val="visible"/>
                                      </p:to>
                                    </p:set>
                                    <p:animEffect transition="in" filter="fade">
                                      <p:cBhvr>
                                        <p:cTn id="56" dur="1000"/>
                                        <p:tgtEl>
                                          <p:spTgt spid="10">
                                            <p:txEl>
                                              <p:pRg st="4" end="4"/>
                                            </p:txEl>
                                          </p:spTgt>
                                        </p:tgtEl>
                                      </p:cBhvr>
                                    </p:animEffect>
                                    <p:anim calcmode="lin" valueType="num">
                                      <p:cBhvr>
                                        <p:cTn id="57" dur="1000" fill="hold"/>
                                        <p:tgtEl>
                                          <p:spTgt spid="10">
                                            <p:txEl>
                                              <p:pRg st="4" end="4"/>
                                            </p:txEl>
                                          </p:spTgt>
                                        </p:tgtEl>
                                        <p:attrNameLst>
                                          <p:attrName>ppt_x</p:attrName>
                                        </p:attrNameLst>
                                      </p:cBhvr>
                                      <p:tavLst>
                                        <p:tav tm="0">
                                          <p:val>
                                            <p:strVal val="#ppt_x"/>
                                          </p:val>
                                        </p:tav>
                                        <p:tav tm="100000">
                                          <p:val>
                                            <p:strVal val="#ppt_x"/>
                                          </p:val>
                                        </p:tav>
                                      </p:tavLst>
                                    </p:anim>
                                    <p:anim calcmode="lin" valueType="num">
                                      <p:cBhvr>
                                        <p:cTn id="58" dur="1000" fill="hold"/>
                                        <p:tgtEl>
                                          <p:spTgt spid="10">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42" presetClass="entr" presetSubtype="0" fill="hold" grpId="0" nodeType="clickEffect">
                                  <p:stCondLst>
                                    <p:cond delay="0"/>
                                  </p:stCondLst>
                                  <p:childTnLst>
                                    <p:set>
                                      <p:cBhvr>
                                        <p:cTn id="62" dur="1" fill="hold">
                                          <p:stCondLst>
                                            <p:cond delay="0"/>
                                          </p:stCondLst>
                                        </p:cTn>
                                        <p:tgtEl>
                                          <p:spTgt spid="10">
                                            <p:txEl>
                                              <p:pRg st="5" end="5"/>
                                            </p:txEl>
                                          </p:spTgt>
                                        </p:tgtEl>
                                        <p:attrNameLst>
                                          <p:attrName>style.visibility</p:attrName>
                                        </p:attrNameLst>
                                      </p:cBhvr>
                                      <p:to>
                                        <p:strVal val="visible"/>
                                      </p:to>
                                    </p:set>
                                    <p:animEffect transition="in" filter="fade">
                                      <p:cBhvr>
                                        <p:cTn id="63" dur="1000"/>
                                        <p:tgtEl>
                                          <p:spTgt spid="10">
                                            <p:txEl>
                                              <p:pRg st="5" end="5"/>
                                            </p:txEl>
                                          </p:spTgt>
                                        </p:tgtEl>
                                      </p:cBhvr>
                                    </p:animEffect>
                                    <p:anim calcmode="lin" valueType="num">
                                      <p:cBhvr>
                                        <p:cTn id="64" dur="1000" fill="hold"/>
                                        <p:tgtEl>
                                          <p:spTgt spid="10">
                                            <p:txEl>
                                              <p:pRg st="5" end="5"/>
                                            </p:txEl>
                                          </p:spTgt>
                                        </p:tgtEl>
                                        <p:attrNameLst>
                                          <p:attrName>ppt_x</p:attrName>
                                        </p:attrNameLst>
                                      </p:cBhvr>
                                      <p:tavLst>
                                        <p:tav tm="0">
                                          <p:val>
                                            <p:strVal val="#ppt_x"/>
                                          </p:val>
                                        </p:tav>
                                        <p:tav tm="100000">
                                          <p:val>
                                            <p:strVal val="#ppt_x"/>
                                          </p:val>
                                        </p:tav>
                                      </p:tavLst>
                                    </p:anim>
                                    <p:anim calcmode="lin" valueType="num">
                                      <p:cBhvr>
                                        <p:cTn id="65" dur="1000" fill="hold"/>
                                        <p:tgtEl>
                                          <p:spTgt spid="10">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8" presetID="42" presetClass="entr" presetSubtype="0" fill="hold" grpId="0" nodeType="clickEffect">
                                  <p:stCondLst>
                                    <p:cond delay="0"/>
                                  </p:stCondLst>
                                  <p:childTnLst>
                                    <p:set>
                                      <p:cBhvr>
                                        <p:cTn id="69" dur="1" fill="hold">
                                          <p:stCondLst>
                                            <p:cond delay="0"/>
                                          </p:stCondLst>
                                        </p:cTn>
                                        <p:tgtEl>
                                          <p:spTgt spid="10">
                                            <p:txEl>
                                              <p:pRg st="6" end="6"/>
                                            </p:txEl>
                                          </p:spTgt>
                                        </p:tgtEl>
                                        <p:attrNameLst>
                                          <p:attrName>style.visibility</p:attrName>
                                        </p:attrNameLst>
                                      </p:cBhvr>
                                      <p:to>
                                        <p:strVal val="visible"/>
                                      </p:to>
                                    </p:set>
                                    <p:animEffect transition="in" filter="fade">
                                      <p:cBhvr>
                                        <p:cTn id="70" dur="1000"/>
                                        <p:tgtEl>
                                          <p:spTgt spid="10">
                                            <p:txEl>
                                              <p:pRg st="6" end="6"/>
                                            </p:txEl>
                                          </p:spTgt>
                                        </p:tgtEl>
                                      </p:cBhvr>
                                    </p:animEffect>
                                    <p:anim calcmode="lin" valueType="num">
                                      <p:cBhvr>
                                        <p:cTn id="71" dur="1000" fill="hold"/>
                                        <p:tgtEl>
                                          <p:spTgt spid="10">
                                            <p:txEl>
                                              <p:pRg st="6" end="6"/>
                                            </p:txEl>
                                          </p:spTgt>
                                        </p:tgtEl>
                                        <p:attrNameLst>
                                          <p:attrName>ppt_x</p:attrName>
                                        </p:attrNameLst>
                                      </p:cBhvr>
                                      <p:tavLst>
                                        <p:tav tm="0">
                                          <p:val>
                                            <p:strVal val="#ppt_x"/>
                                          </p:val>
                                        </p:tav>
                                        <p:tav tm="100000">
                                          <p:val>
                                            <p:strVal val="#ppt_x"/>
                                          </p:val>
                                        </p:tav>
                                      </p:tavLst>
                                    </p:anim>
                                    <p:anim calcmode="lin" valueType="num">
                                      <p:cBhvr>
                                        <p:cTn id="72" dur="1000" fill="hold"/>
                                        <p:tgtEl>
                                          <p:spTgt spid="10">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5" presetID="42" presetClass="entr" presetSubtype="0" fill="hold" grpId="0" nodeType="clickEffect">
                                  <p:stCondLst>
                                    <p:cond delay="0"/>
                                  </p:stCondLst>
                                  <p:childTnLst>
                                    <p:set>
                                      <p:cBhvr>
                                        <p:cTn id="76" dur="1" fill="hold">
                                          <p:stCondLst>
                                            <p:cond delay="0"/>
                                          </p:stCondLst>
                                        </p:cTn>
                                        <p:tgtEl>
                                          <p:spTgt spid="10">
                                            <p:txEl>
                                              <p:pRg st="8" end="8"/>
                                            </p:txEl>
                                          </p:spTgt>
                                        </p:tgtEl>
                                        <p:attrNameLst>
                                          <p:attrName>style.visibility</p:attrName>
                                        </p:attrNameLst>
                                      </p:cBhvr>
                                      <p:to>
                                        <p:strVal val="visible"/>
                                      </p:to>
                                    </p:set>
                                    <p:animEffect transition="in" filter="fade">
                                      <p:cBhvr>
                                        <p:cTn id="77" dur="1000"/>
                                        <p:tgtEl>
                                          <p:spTgt spid="10">
                                            <p:txEl>
                                              <p:pRg st="8" end="8"/>
                                            </p:txEl>
                                          </p:spTgt>
                                        </p:tgtEl>
                                      </p:cBhvr>
                                    </p:animEffect>
                                    <p:anim calcmode="lin" valueType="num">
                                      <p:cBhvr>
                                        <p:cTn id="78" dur="1000" fill="hold"/>
                                        <p:tgtEl>
                                          <p:spTgt spid="10">
                                            <p:txEl>
                                              <p:pRg st="8" end="8"/>
                                            </p:txEl>
                                          </p:spTgt>
                                        </p:tgtEl>
                                        <p:attrNameLst>
                                          <p:attrName>ppt_x</p:attrName>
                                        </p:attrNameLst>
                                      </p:cBhvr>
                                      <p:tavLst>
                                        <p:tav tm="0">
                                          <p:val>
                                            <p:strVal val="#ppt_x"/>
                                          </p:val>
                                        </p:tav>
                                        <p:tav tm="100000">
                                          <p:val>
                                            <p:strVal val="#ppt_x"/>
                                          </p:val>
                                        </p:tav>
                                      </p:tavLst>
                                    </p:anim>
                                    <p:anim calcmode="lin" valueType="num">
                                      <p:cBhvr>
                                        <p:cTn id="79" dur="1000" fill="hold"/>
                                        <p:tgtEl>
                                          <p:spTgt spid="10">
                                            <p:txEl>
                                              <p:pRg st="8" end="8"/>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5957" y="370589"/>
            <a:ext cx="4735798" cy="830997"/>
          </a:xfrm>
        </p:spPr>
        <p:txBody>
          <a:bodyPr>
            <a:normAutofit/>
          </a:bodyPr>
          <a:lstStyle/>
          <a:p>
            <a:r>
              <a:rPr lang="en-IN" sz="4000" dirty="0"/>
              <a:t>Future scope</a:t>
            </a:r>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C8A8B73-0C64-E012-F561-D7FE5E322230}"/>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2" name="TextBox 1">
            <a:extLst>
              <a:ext uri="{FF2B5EF4-FFF2-40B4-BE49-F238E27FC236}">
                <a16:creationId xmlns:a16="http://schemas.microsoft.com/office/drawing/2014/main" id="{FD6FC008-80DE-B8FC-622B-09B7C18BCCBF}"/>
              </a:ext>
            </a:extLst>
          </p:cNvPr>
          <p:cNvSpPr txBox="1"/>
          <p:nvPr/>
        </p:nvSpPr>
        <p:spPr>
          <a:xfrm>
            <a:off x="675957" y="1201587"/>
            <a:ext cx="10464794" cy="4816658"/>
          </a:xfrm>
          <a:prstGeom prst="rect">
            <a:avLst/>
          </a:prstGeom>
          <a:noFill/>
        </p:spPr>
        <p:txBody>
          <a:bodyPr wrap="square" rtlCol="0">
            <a:spAutoFit/>
          </a:bodyPr>
          <a:lstStyle/>
          <a:p>
            <a:r>
              <a:rPr lang="en-IN" dirty="0"/>
              <a:t>The future scope of the </a:t>
            </a:r>
            <a:r>
              <a:rPr lang="en-IN" b="1" dirty="0"/>
              <a:t>Seasonal Agriculture Performance Analysis</a:t>
            </a:r>
            <a:r>
              <a:rPr lang="en-IN" dirty="0"/>
              <a:t> project includes:</a:t>
            </a:r>
          </a:p>
          <a:p>
            <a:pPr marL="285750" lvl="0" indent="-285750">
              <a:buFont typeface="Arial" panose="020B0604020202020204" pitchFamily="34" charset="0"/>
              <a:buChar char="•"/>
            </a:pPr>
            <a:r>
              <a:rPr lang="en-IN" b="1" dirty="0"/>
              <a:t>Predictive Analysis:</a:t>
            </a:r>
            <a:r>
              <a:rPr lang="en-IN" dirty="0"/>
              <a:t> Use machine learning to predict crop yield and agricultural performance for upcoming seasons. </a:t>
            </a:r>
          </a:p>
          <a:p>
            <a:pPr marL="285750" lvl="0" indent="-285750">
              <a:buFont typeface="Arial" panose="020B0604020202020204" pitchFamily="34" charset="0"/>
              <a:buChar char="•"/>
            </a:pPr>
            <a:r>
              <a:rPr lang="en-IN" b="1" dirty="0"/>
              <a:t>Weather Integration:</a:t>
            </a:r>
            <a:r>
              <a:rPr lang="en-IN" dirty="0"/>
              <a:t> Incorporate real-time weather data such as rainfall, temperature, and humidity for better seasonal predictions. </a:t>
            </a:r>
          </a:p>
          <a:p>
            <a:pPr marL="285750" lvl="0" indent="-285750">
              <a:buFont typeface="Arial" panose="020B0604020202020204" pitchFamily="34" charset="0"/>
              <a:buChar char="•"/>
            </a:pPr>
            <a:r>
              <a:rPr lang="en-IN" b="1" dirty="0"/>
              <a:t>Crop Recommendation:</a:t>
            </a:r>
            <a:r>
              <a:rPr lang="en-IN" dirty="0"/>
              <a:t> Develop a system that recommends suitable crops based on season, soil, and environmental conditions. </a:t>
            </a:r>
          </a:p>
          <a:p>
            <a:pPr marL="285750" lvl="0" indent="-285750">
              <a:buFont typeface="Arial" panose="020B0604020202020204" pitchFamily="34" charset="0"/>
              <a:buChar char="•"/>
            </a:pPr>
            <a:r>
              <a:rPr lang="en-IN" b="1" dirty="0"/>
              <a:t>Resource Optimization:</a:t>
            </a:r>
            <a:r>
              <a:rPr lang="en-IN" dirty="0"/>
              <a:t> Predict and optimize the required amount of water, fertilizer, and other resources. </a:t>
            </a:r>
          </a:p>
          <a:p>
            <a:pPr marL="285750" lvl="0" indent="-285750">
              <a:buFont typeface="Arial" panose="020B0604020202020204" pitchFamily="34" charset="0"/>
              <a:buChar char="•"/>
            </a:pPr>
            <a:r>
              <a:rPr lang="en-IN" b="1" dirty="0"/>
              <a:t>Regional Analysis:</a:t>
            </a:r>
            <a:r>
              <a:rPr lang="en-IN" dirty="0"/>
              <a:t> Expand the analysis to more geographical regions to identify location-specific agricultural patterns. </a:t>
            </a:r>
          </a:p>
          <a:p>
            <a:pPr marL="285750" lvl="0" indent="-285750">
              <a:buFont typeface="Arial" panose="020B0604020202020204" pitchFamily="34" charset="0"/>
              <a:buChar char="•"/>
            </a:pPr>
            <a:r>
              <a:rPr lang="en-IN" b="1" dirty="0"/>
              <a:t>Market Prediction:</a:t>
            </a:r>
            <a:r>
              <a:rPr lang="en-IN" dirty="0"/>
              <a:t> Include market prices to predict potential revenue and profitability. </a:t>
            </a:r>
          </a:p>
          <a:p>
            <a:pPr marL="285750" lvl="0" indent="-285750">
              <a:buFont typeface="Arial" panose="020B0604020202020204" pitchFamily="34" charset="0"/>
              <a:buChar char="•"/>
            </a:pPr>
            <a:r>
              <a:rPr lang="en-IN" b="1" dirty="0"/>
              <a:t>Interactive Dashboard:</a:t>
            </a:r>
            <a:r>
              <a:rPr lang="en-IN" dirty="0"/>
              <a:t> Develop a dashboard using tools such as Power BI, Tableau, or </a:t>
            </a:r>
            <a:r>
              <a:rPr lang="en-IN" dirty="0" err="1"/>
              <a:t>Streamlit</a:t>
            </a:r>
            <a:r>
              <a:rPr lang="en-IN" dirty="0"/>
              <a:t> for real-time visualization. </a:t>
            </a:r>
          </a:p>
          <a:p>
            <a:pPr marL="285750" lvl="0" indent="-285750">
              <a:buFont typeface="Arial" panose="020B0604020202020204" pitchFamily="34" charset="0"/>
              <a:buChar char="•"/>
            </a:pPr>
            <a:r>
              <a:rPr lang="en-IN" b="1" dirty="0"/>
              <a:t>AI-Based Decision Support:</a:t>
            </a:r>
            <a:r>
              <a:rPr lang="en-IN" dirty="0"/>
              <a:t> Build an intelligent system that provides data-driven recommendations to farmers and agricultural planners.</a:t>
            </a:r>
          </a:p>
          <a:p>
            <a:endParaRPr lang="en-IN" dirty="0"/>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675957" y="370589"/>
            <a:ext cx="4735798" cy="830997"/>
          </a:xfrm>
        </p:spPr>
        <p:txBody>
          <a:bodyPr>
            <a:normAutofit/>
          </a:bodyPr>
          <a:lstStyle/>
          <a:p>
            <a:r>
              <a:rPr lang="en-IN" sz="4000" dirty="0"/>
              <a:t>GitHub Link</a:t>
            </a:r>
          </a:p>
        </p:txBody>
      </p:sp>
      <p:sp>
        <p:nvSpPr>
          <p:cNvPr id="7" name="Text Placeholder 30">
            <a:extLst>
              <a:ext uri="{FF2B5EF4-FFF2-40B4-BE49-F238E27FC236}">
                <a16:creationId xmlns:a16="http://schemas.microsoft.com/office/drawing/2014/main" id="{AF1C8809-654A-4DD1-BB18-87B8B6C020B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Box 2">
            <a:extLst>
              <a:ext uri="{FF2B5EF4-FFF2-40B4-BE49-F238E27FC236}">
                <a16:creationId xmlns:a16="http://schemas.microsoft.com/office/drawing/2014/main" id="{5F0B37E4-66B1-8633-7266-68B321742757}"/>
              </a:ext>
            </a:extLst>
          </p:cNvPr>
          <p:cNvSpPr txBox="1"/>
          <p:nvPr/>
        </p:nvSpPr>
        <p:spPr>
          <a:xfrm>
            <a:off x="729256" y="1440320"/>
            <a:ext cx="7232875" cy="646331"/>
          </a:xfrm>
          <a:prstGeom prst="rect">
            <a:avLst/>
          </a:prstGeom>
          <a:noFill/>
        </p:spPr>
        <p:txBody>
          <a:bodyPr wrap="square">
            <a:spAutoFit/>
          </a:bodyPr>
          <a:lstStyle/>
          <a:p>
            <a:r>
              <a:rPr lang="en-US" dirty="0"/>
              <a:t>https://github.com/AswiniKumar55/-Seasonal-Agriculture-Performance-Analysis-.git</a:t>
            </a:r>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675957" y="370589"/>
            <a:ext cx="8351388" cy="884658"/>
          </a:xfrm>
        </p:spPr>
        <p:txBody>
          <a:bodyPr>
            <a:normAutofit fontScale="90000"/>
          </a:bodyPr>
          <a:lstStyle/>
          <a:p>
            <a:r>
              <a:rPr lang="en-IN" sz="3200" dirty="0"/>
              <a:t>VOIS Course completion certificate - </a:t>
            </a:r>
            <a:br>
              <a:rPr lang="en-IN" sz="3200" dirty="0"/>
            </a:br>
            <a:r>
              <a:rPr lang="en-IN" sz="3200" dirty="0"/>
              <a:t>Course name- Data Visualization </a:t>
            </a:r>
          </a:p>
        </p:txBody>
      </p:sp>
      <p:sp>
        <p:nvSpPr>
          <p:cNvPr id="7" name="Text Placeholder 30">
            <a:extLst>
              <a:ext uri="{FF2B5EF4-FFF2-40B4-BE49-F238E27FC236}">
                <a16:creationId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6" name="Picture 5">
            <a:extLst>
              <a:ext uri="{FF2B5EF4-FFF2-40B4-BE49-F238E27FC236}">
                <a16:creationId xmlns:a16="http://schemas.microsoft.com/office/drawing/2014/main" id="{E6204BA6-BF00-1AC6-0108-C602E7652325}"/>
              </a:ext>
            </a:extLst>
          </p:cNvPr>
          <p:cNvPicPr>
            <a:picLocks noChangeAspect="1"/>
          </p:cNvPicPr>
          <p:nvPr/>
        </p:nvPicPr>
        <p:blipFill>
          <a:blip r:embed="rId3"/>
          <a:stretch>
            <a:fillRect/>
          </a:stretch>
        </p:blipFill>
        <p:spPr>
          <a:xfrm>
            <a:off x="820323" y="1419120"/>
            <a:ext cx="8118403" cy="5328074"/>
          </a:xfrm>
          <a:prstGeom prst="rect">
            <a:avLst/>
          </a:prstGeom>
        </p:spPr>
      </p:pic>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xfrm>
            <a:off x="426000" y="1986511"/>
            <a:ext cx="10887663" cy="2247727"/>
          </a:xfrm>
          <a:prstGeom prst="rect">
            <a:avLst/>
          </a:prstGeom>
        </p:spPr>
        <p:txBody>
          <a:bodyPr anchor="ctr">
            <a:normAutofit/>
          </a:bodyPr>
          <a:lstStyle/>
          <a:p>
            <a:pPr algn="ctr"/>
            <a:r>
              <a:rPr lang="en-US" sz="8000" b="1" dirty="0">
                <a:solidFill>
                  <a:srgbClr val="00B0F0"/>
                </a:solidFill>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5D99ABA-76CE-4A8E-B5F0-C051B96628DE}">
  <ds:schemaRefs>
    <ds:schemaRef ds:uri="http://schemas.microsoft.com/sharepoint/v3/contenttype/forms"/>
  </ds:schemaRefs>
</ds:datastoreItem>
</file>

<file path=customXml/itemProps2.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3.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Facet</Template>
  <TotalTime>3019</TotalTime>
  <Words>1449</Words>
  <Application>Microsoft Office PowerPoint</Application>
  <PresentationFormat>Widescreen</PresentationFormat>
  <Paragraphs>98</Paragraphs>
  <Slides>15</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vt:i4>
      </vt:variant>
    </vt:vector>
  </HeadingPairs>
  <TitlesOfParts>
    <vt:vector size="21" baseType="lpstr">
      <vt:lpstr>Arial</vt:lpstr>
      <vt:lpstr>Calibri</vt:lpstr>
      <vt:lpstr>Trebuchet MS</vt:lpstr>
      <vt:lpstr>Wingdings</vt:lpstr>
      <vt:lpstr>Wingdings 3</vt:lpstr>
      <vt:lpstr>Facet</vt:lpstr>
      <vt:lpstr>Project Title - Seasonal Agriculture Performance Analysis</vt:lpstr>
      <vt:lpstr>PROBLEM  STATEMENT</vt:lpstr>
      <vt:lpstr>Project Description </vt:lpstr>
      <vt:lpstr>WHO ARE THE END USERS?</vt:lpstr>
      <vt:lpstr>Technology Used</vt:lpstr>
      <vt:lpstr>RESULTS </vt:lpstr>
      <vt:lpstr>RESULTS </vt:lpstr>
      <vt:lpstr>RESULTS </vt:lpstr>
      <vt:lpstr>RESULTS </vt:lpstr>
      <vt:lpstr>RESULTS </vt:lpstr>
      <vt:lpstr>RESULTS </vt:lpstr>
      <vt:lpstr>Future scope</vt:lpstr>
      <vt:lpstr>GitHub Link</vt:lpstr>
      <vt:lpstr>VOIS Course completion certificate -  Course name- Data Visualization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Anupriya</dc:creator>
  <cp:lastModifiedBy>Anupriya .</cp:lastModifiedBy>
  <cp:revision>99</cp:revision>
  <dcterms:created xsi:type="dcterms:W3CDTF">2021-07-11T13:13:15Z</dcterms:created>
  <dcterms:modified xsi:type="dcterms:W3CDTF">2026-09-10T21:31:35Z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