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7"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87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87931" y="3583914"/>
            <a:ext cx="5145121" cy="861497"/>
          </a:xfrm>
        </p:spPr>
        <p:txBody>
          <a:bodyPr vert="horz" lIns="91440" tIns="45720" rIns="91440" bIns="45720" rtlCol="0" anchor="t">
            <a:normAutofit fontScale="85000" lnSpcReduction="10000"/>
          </a:bodyPr>
          <a:lstStyle/>
          <a:p>
            <a:r>
              <a:rPr lang="en-US" b="0" dirty="0">
                <a:solidFill>
                  <a:schemeClr val="tx1"/>
                </a:solidFill>
              </a:rPr>
              <a:t>[Student Name : </a:t>
            </a:r>
            <a:r>
              <a:rPr lang="en-US" dirty="0">
                <a:solidFill>
                  <a:schemeClr val="tx1"/>
                </a:solidFill>
              </a:rPr>
              <a:t>Anupriya</a:t>
            </a:r>
            <a:endParaRPr lang="en-IN" dirty="0">
              <a:solidFill>
                <a:schemeClr val="tx1"/>
              </a:solidFill>
            </a:endParaRPr>
          </a:p>
          <a:p>
            <a:r>
              <a:rPr lang="en-US" b="0" dirty="0">
                <a:solidFill>
                  <a:schemeClr val="tx1"/>
                </a:solidFill>
              </a:rPr>
              <a:t>College Name : </a:t>
            </a:r>
            <a:r>
              <a:rPr lang="en-IN" b="0" dirty="0"/>
              <a:t>Vellore Institute of Technology</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19721" y="2819767"/>
            <a:ext cx="12491209" cy="743448"/>
          </a:xfrm>
        </p:spPr>
        <p:txBody>
          <a:bodyPr>
            <a:normAutofit/>
          </a:bodyPr>
          <a:lstStyle/>
          <a:p>
            <a:r>
              <a:rPr lang="en-GB" sz="3200" b="1" dirty="0"/>
              <a:t>Project Title </a:t>
            </a:r>
            <a:r>
              <a:rPr lang="en-GB" sz="3200" dirty="0"/>
              <a:t>-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4892888" cy="646331"/>
          </a:xfrm>
          <a:prstGeom prst="rect">
            <a:avLst/>
          </a:prstGeom>
          <a:noFill/>
        </p:spPr>
        <p:txBody>
          <a:bodyPr wrap="square" rtlCol="0">
            <a:spAutoFit/>
          </a:bodyPr>
          <a:lstStyle/>
          <a:p>
            <a:r>
              <a:rPr lang="en-US" b="1" dirty="0"/>
              <a:t>AICTE STU ID : ( </a:t>
            </a:r>
            <a:r>
              <a:rPr lang="en-IN" dirty="0"/>
              <a:t>STU6a0f18aad427b1779374250 </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7" y="737119"/>
            <a:ext cx="6469151" cy="899092"/>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83031390-A417-E931-21A9-8CCACBDCE606}"/>
              </a:ext>
            </a:extLst>
          </p:cNvPr>
          <p:cNvSpPr txBox="1"/>
          <p:nvPr/>
        </p:nvSpPr>
        <p:spPr>
          <a:xfrm>
            <a:off x="467358" y="1636210"/>
            <a:ext cx="11177245" cy="5078313"/>
          </a:xfrm>
          <a:prstGeom prst="rect">
            <a:avLst/>
          </a:prstGeom>
          <a:noFill/>
        </p:spPr>
        <p:txBody>
          <a:bodyPr wrap="square" rtlCol="0">
            <a:spAutoFit/>
          </a:bodyPr>
          <a:lstStyle/>
          <a:p>
            <a:r>
              <a:rPr lang="en-IN" dirty="0"/>
              <a:t>The </a:t>
            </a:r>
            <a:r>
              <a:rPr lang="en-IN" b="1" dirty="0"/>
              <a:t>Seasonal Agriculture Performance Analysis</a:t>
            </a:r>
            <a:r>
              <a:rPr lang="en-IN" dirty="0"/>
              <a:t> project is a data analytics project developed using </a:t>
            </a:r>
            <a:r>
              <a:rPr lang="en-IN" b="1" dirty="0"/>
              <a:t>Python in Google Collab</a:t>
            </a:r>
            <a:r>
              <a:rPr lang="en-IN" dirty="0"/>
              <a:t> to understand how agricultural performance varies across different seasons. The project uses an agricultural dataset containing information about farming activities, environmental conditions, crop production, resource utilization, geographical factors, and economic performance. The analysis begins with importing and examining the dataset using Python libraries such as </a:t>
            </a:r>
            <a:r>
              <a:rPr lang="en-IN" b="1" dirty="0"/>
              <a:t>Pandas and NumPy</a:t>
            </a:r>
            <a:r>
              <a:rPr lang="en-IN" dirty="0"/>
              <a:t>, followed by data cleaning to handle missing values, duplicates, inconsistent data, and unsuitable data types.</a:t>
            </a:r>
          </a:p>
          <a:p>
            <a:r>
              <a:rPr lang="en-IN" dirty="0"/>
              <a:t>Exploratory Data Analysis is then performed using </a:t>
            </a:r>
            <a:r>
              <a:rPr lang="en-IN" b="1" dirty="0"/>
              <a:t>Matplotlib and Seaborn</a:t>
            </a:r>
            <a:r>
              <a:rPr lang="en-IN" dirty="0"/>
              <a:t> to identify seasonal patterns and compare agricultural performance across different periods. The project </a:t>
            </a:r>
            <a:r>
              <a:rPr lang="en-IN" dirty="0" err="1"/>
              <a:t>analyzes</a:t>
            </a:r>
            <a:r>
              <a:rPr lang="en-IN" dirty="0"/>
              <a:t> factors such as crop yield, production, rainfall, temperature, irrigation, fertilizer usage, revenue, cost, and profit wherever available. Different visualization techniques, including bar charts, line graphs, box plots, scatter plots, and heatmaps, are used to present meaningful insights.</a:t>
            </a:r>
          </a:p>
          <a:p>
            <a:r>
              <a:rPr lang="en-IN" dirty="0"/>
              <a:t>Correlation analysis and appropriate statistical techniques are applied to investigate relationships between seasonal conditions and agricultural outcomes. Regional and crop-wise comparisons are also performed to identify variations and unusual patterns. Finally, the project summarizes key findings and provides </a:t>
            </a:r>
            <a:r>
              <a:rPr lang="en-IN" b="1" dirty="0"/>
              <a:t>evidence-based recommendations for better seasonal agricultural planning</a:t>
            </a:r>
            <a:r>
              <a:rPr lang="en-IN" dirty="0"/>
              <a:t>, with the complete analysis documented in a Google </a:t>
            </a:r>
            <a:r>
              <a:rPr lang="en-IN" dirty="0" err="1"/>
              <a:t>Colab</a:t>
            </a:r>
            <a:r>
              <a:rPr lang="en-IN" dirty="0"/>
              <a:t> notebook.</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94787" y="1679258"/>
            <a:ext cx="10904583" cy="4880162"/>
          </a:xfrm>
        </p:spPr>
        <p:txBody>
          <a:bodyPr>
            <a:normAutofit fontScale="55000" lnSpcReduction="20000"/>
          </a:bodyPr>
          <a:lstStyle/>
          <a:p>
            <a:pPr marL="0" indent="0">
              <a:buNone/>
            </a:pPr>
            <a:r>
              <a:rPr lang="en-IN" sz="3800" dirty="0"/>
              <a:t>The main end users of the </a:t>
            </a:r>
            <a:r>
              <a:rPr lang="en-IN" sz="3800" b="1" dirty="0"/>
              <a:t>Seasonal Agriculture Performance Analysis</a:t>
            </a:r>
            <a:r>
              <a:rPr lang="en-IN" sz="3800" dirty="0"/>
              <a:t> project are:</a:t>
            </a:r>
          </a:p>
          <a:p>
            <a:pPr lvl="0"/>
            <a:r>
              <a:rPr lang="en-IN" sz="3800" b="1" dirty="0"/>
              <a:t>Farmers</a:t>
            </a:r>
            <a:r>
              <a:rPr lang="en-IN" sz="3800" dirty="0"/>
              <a:t> – to understand seasonal crop performance and improve farming decisions. </a:t>
            </a:r>
          </a:p>
          <a:p>
            <a:pPr lvl="0"/>
            <a:r>
              <a:rPr lang="en-IN" sz="3800" b="1" dirty="0"/>
              <a:t>Agricultural planners and experts</a:t>
            </a:r>
            <a:r>
              <a:rPr lang="en-IN" sz="3800" dirty="0"/>
              <a:t> – to identify seasonal trends and plan agricultural activities. </a:t>
            </a:r>
          </a:p>
          <a:p>
            <a:pPr lvl="0"/>
            <a:r>
              <a:rPr lang="en-IN" sz="3800" b="1" dirty="0"/>
              <a:t>Government departments and policymakers</a:t>
            </a:r>
            <a:r>
              <a:rPr lang="en-IN" sz="3800" dirty="0"/>
              <a:t> – to support evidence-based agricultural policies and resource planning. </a:t>
            </a:r>
          </a:p>
          <a:p>
            <a:pPr lvl="0"/>
            <a:r>
              <a:rPr lang="en-IN" sz="3800" b="1" dirty="0"/>
              <a:t>Agricultural researchers</a:t>
            </a:r>
            <a:r>
              <a:rPr lang="en-IN" sz="3800" dirty="0"/>
              <a:t> – to study relationships between environmental conditions, farming practices, and crop outcomes. </a:t>
            </a:r>
          </a:p>
          <a:p>
            <a:pPr lvl="0"/>
            <a:r>
              <a:rPr lang="en-IN" sz="3800" b="1" dirty="0"/>
              <a:t>Agribusinesses and organizations</a:t>
            </a:r>
            <a:r>
              <a:rPr lang="en-IN" sz="3800" dirty="0"/>
              <a:t> – to understand production and economic patterns across seasons. </a:t>
            </a:r>
          </a:p>
          <a:p>
            <a:pPr lvl="0"/>
            <a:r>
              <a:rPr lang="en-IN" sz="3800" b="1" dirty="0"/>
              <a:t>Agricultural students and analysts</a:t>
            </a:r>
            <a:r>
              <a:rPr lang="en-IN" sz="3800" dirty="0"/>
              <a:t> – to explore agricultural data and develop data-driven insights. </a:t>
            </a:r>
          </a:p>
          <a:p>
            <a:r>
              <a:rPr lang="en-IN" sz="3800" b="1" dirty="0"/>
              <a:t>Primary End Users:</a:t>
            </a:r>
            <a:r>
              <a:rPr lang="en-IN" sz="3800" dirty="0"/>
              <a:t> Farmers, agricultural planners, researchers, and government agricultural departments.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67696" y="1530220"/>
            <a:ext cx="9027702" cy="5145788"/>
          </a:xfrm>
        </p:spPr>
        <p:txBody>
          <a:bodyPr/>
          <a:lstStyle/>
          <a:p>
            <a:pPr lvl="0"/>
            <a:r>
              <a:rPr lang="en-IN" b="1" dirty="0"/>
              <a:t>Google Collab</a:t>
            </a:r>
            <a:r>
              <a:rPr lang="en-IN" dirty="0"/>
              <a:t> – Development and execution environment. </a:t>
            </a:r>
          </a:p>
          <a:p>
            <a:pPr lvl="0"/>
            <a:r>
              <a:rPr lang="en-IN" b="1" dirty="0"/>
              <a:t>Python</a:t>
            </a:r>
            <a:r>
              <a:rPr lang="en-IN" dirty="0"/>
              <a:t> – Programming language used for data analysis. </a:t>
            </a:r>
          </a:p>
          <a:p>
            <a:pPr lvl="0"/>
            <a:r>
              <a:rPr lang="en-IN" b="1" dirty="0"/>
              <a:t>Pandas</a:t>
            </a:r>
            <a:r>
              <a:rPr lang="en-IN" dirty="0"/>
              <a:t> – Data cleaning, manipulation, and analysis. </a:t>
            </a:r>
          </a:p>
          <a:p>
            <a:pPr lvl="0"/>
            <a:r>
              <a:rPr lang="en-IN" b="1" dirty="0"/>
              <a:t>NumPy</a:t>
            </a:r>
            <a:r>
              <a:rPr lang="en-IN" dirty="0"/>
              <a:t> – Numerical computations and data processing. </a:t>
            </a:r>
          </a:p>
          <a:p>
            <a:pPr lvl="0"/>
            <a:r>
              <a:rPr lang="en-IN" b="1" dirty="0"/>
              <a:t>Matplotlib</a:t>
            </a:r>
            <a:r>
              <a:rPr lang="en-IN" dirty="0"/>
              <a:t> – Data visualization and graphical representation. </a:t>
            </a:r>
          </a:p>
          <a:p>
            <a:pPr lvl="0"/>
            <a:r>
              <a:rPr lang="en-IN" b="1" dirty="0"/>
              <a:t>Seaborn</a:t>
            </a:r>
            <a:r>
              <a:rPr lang="en-IN" dirty="0"/>
              <a:t> – Statistical visualizations and trend analysis. </a:t>
            </a:r>
          </a:p>
          <a:p>
            <a:pPr lvl="0"/>
            <a:r>
              <a:rPr lang="en-IN" b="1" dirty="0"/>
              <a:t>SciPy</a:t>
            </a:r>
            <a:r>
              <a:rPr lang="en-IN" dirty="0"/>
              <a:t> – Statistical analysis and hypothesis testing.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67093" y="449229"/>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A7BE48C-3A5B-65FA-B7AB-16A381D744D4}"/>
              </a:ext>
            </a:extLst>
          </p:cNvPr>
          <p:cNvPicPr>
            <a:picLocks noChangeAspect="1"/>
          </p:cNvPicPr>
          <p:nvPr/>
        </p:nvPicPr>
        <p:blipFill>
          <a:blip r:embed="rId3"/>
          <a:stretch>
            <a:fillRect/>
          </a:stretch>
        </p:blipFill>
        <p:spPr>
          <a:xfrm>
            <a:off x="4345694" y="1449931"/>
            <a:ext cx="6569009" cy="4648603"/>
          </a:xfrm>
          <a:prstGeom prst="rect">
            <a:avLst/>
          </a:prstGeom>
        </p:spPr>
      </p:pic>
      <p:sp>
        <p:nvSpPr>
          <p:cNvPr id="6" name="TextBox 5">
            <a:extLst>
              <a:ext uri="{FF2B5EF4-FFF2-40B4-BE49-F238E27FC236}">
                <a16:creationId xmlns:a16="http://schemas.microsoft.com/office/drawing/2014/main" id="{0E326818-1CF0-3DAF-3D62-7DA91748F751}"/>
              </a:ext>
            </a:extLst>
          </p:cNvPr>
          <p:cNvSpPr txBox="1"/>
          <p:nvPr/>
        </p:nvSpPr>
        <p:spPr>
          <a:xfrm>
            <a:off x="675957" y="1449931"/>
            <a:ext cx="3765414" cy="4801314"/>
          </a:xfrm>
          <a:prstGeom prst="rect">
            <a:avLst/>
          </a:prstGeom>
          <a:noFill/>
        </p:spPr>
        <p:txBody>
          <a:bodyPr wrap="square" rtlCol="0">
            <a:spAutoFit/>
          </a:bodyPr>
          <a:lstStyle/>
          <a:p>
            <a:r>
              <a:rPr lang="en-IN" dirty="0"/>
              <a:t>The graph shows the </a:t>
            </a:r>
            <a:r>
              <a:rPr lang="en-IN" b="1" dirty="0"/>
              <a:t>distribution of agricultural records across seasons</a:t>
            </a:r>
            <a:r>
              <a:rPr lang="en-IN" dirty="0"/>
              <a:t>:</a:t>
            </a:r>
          </a:p>
          <a:p>
            <a:pPr lvl="0"/>
            <a:r>
              <a:rPr lang="en-IN" b="1" dirty="0"/>
              <a:t>Kharif</a:t>
            </a:r>
            <a:r>
              <a:rPr lang="en-IN" dirty="0"/>
              <a:t> has the highest number of records, around </a:t>
            </a:r>
            <a:r>
              <a:rPr lang="en-IN" b="1" dirty="0"/>
              <a:t>1,770</a:t>
            </a:r>
            <a:r>
              <a:rPr lang="en-IN" dirty="0"/>
              <a:t>. </a:t>
            </a:r>
          </a:p>
          <a:p>
            <a:pPr lvl="0"/>
            <a:r>
              <a:rPr lang="en-IN" b="1" dirty="0"/>
              <a:t>Rabi</a:t>
            </a:r>
            <a:r>
              <a:rPr lang="en-IN" dirty="0"/>
              <a:t> has around </a:t>
            </a:r>
            <a:r>
              <a:rPr lang="en-IN" b="1" dirty="0"/>
              <a:t>1,620</a:t>
            </a:r>
            <a:r>
              <a:rPr lang="en-IN" dirty="0"/>
              <a:t> records. </a:t>
            </a:r>
          </a:p>
          <a:p>
            <a:pPr lvl="0"/>
            <a:r>
              <a:rPr lang="en-IN" b="1" dirty="0"/>
              <a:t>Zaid</a:t>
            </a:r>
            <a:r>
              <a:rPr lang="en-IN" dirty="0"/>
              <a:t> has the lowest, with around </a:t>
            </a:r>
            <a:r>
              <a:rPr lang="en-IN" b="1" dirty="0"/>
              <a:t>590</a:t>
            </a:r>
            <a:r>
              <a:rPr lang="en-IN" dirty="0"/>
              <a:t> records. </a:t>
            </a:r>
          </a:p>
          <a:p>
            <a:pPr lvl="0"/>
            <a:endParaRPr lang="en-IN" dirty="0"/>
          </a:p>
          <a:p>
            <a:r>
              <a:rPr lang="en-IN" b="1" dirty="0"/>
              <a:t>Interpretation:</a:t>
            </a:r>
            <a:r>
              <a:rPr lang="en-IN" dirty="0"/>
              <a:t> The dataset contains significantly more Kharif and Rabi observations than Zaid observations, so seasonal comparisons involving Zaid should be interpreted carefully due to its smaller sample size.</a:t>
            </a:r>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3"/>
            <a:ext cx="3624877" cy="4610500"/>
          </a:xfrm>
        </p:spPr>
        <p:txBody>
          <a:bodyPr>
            <a:normAutofit fontScale="77500" lnSpcReduction="20000"/>
          </a:bodyPr>
          <a:lstStyle/>
          <a:p>
            <a:r>
              <a:rPr lang="en-IN" dirty="0"/>
              <a:t>The graph shows the </a:t>
            </a:r>
            <a:r>
              <a:rPr lang="en-IN" b="1" dirty="0"/>
              <a:t>distribution of rainfall</a:t>
            </a:r>
            <a:r>
              <a:rPr lang="en-IN" dirty="0"/>
              <a:t> in the dataset:</a:t>
            </a:r>
          </a:p>
          <a:p>
            <a:pPr lvl="0"/>
            <a:r>
              <a:rPr lang="en-IN" dirty="0"/>
              <a:t>Rainfall values range approximately from </a:t>
            </a:r>
            <a:r>
              <a:rPr lang="en-IN" b="1" dirty="0"/>
              <a:t>100 mm to 1,400 mm</a:t>
            </a:r>
            <a:r>
              <a:rPr lang="en-IN" dirty="0"/>
              <a:t>. </a:t>
            </a:r>
          </a:p>
          <a:p>
            <a:pPr lvl="0"/>
            <a:r>
              <a:rPr lang="en-IN" dirty="0"/>
              <a:t>Most observations are concentrated between </a:t>
            </a:r>
            <a:r>
              <a:rPr lang="en-IN" b="1" dirty="0"/>
              <a:t>300 mm and 1,000 mm</a:t>
            </a:r>
            <a:r>
              <a:rPr lang="en-IN" dirty="0"/>
              <a:t>. </a:t>
            </a:r>
          </a:p>
          <a:p>
            <a:pPr lvl="0"/>
            <a:r>
              <a:rPr lang="en-IN" dirty="0"/>
              <a:t>The highest frequency is around </a:t>
            </a:r>
            <a:r>
              <a:rPr lang="en-IN" b="1" dirty="0"/>
              <a:t>500–600 mm</a:t>
            </a:r>
            <a:r>
              <a:rPr lang="en-IN" dirty="0"/>
              <a:t>. </a:t>
            </a:r>
          </a:p>
          <a:p>
            <a:pPr lvl="0"/>
            <a:r>
              <a:rPr lang="en-IN" dirty="0"/>
              <a:t>Very high rainfall values above </a:t>
            </a:r>
            <a:r>
              <a:rPr lang="en-IN" b="1" dirty="0"/>
              <a:t>1,200 mm</a:t>
            </a:r>
            <a:r>
              <a:rPr lang="en-IN" dirty="0"/>
              <a:t> occur less frequently.</a:t>
            </a:r>
          </a:p>
          <a:p>
            <a:pPr marL="0" lvl="0" indent="0">
              <a:buNone/>
            </a:pPr>
            <a:r>
              <a:rPr lang="en-IN" dirty="0"/>
              <a:t> </a:t>
            </a:r>
          </a:p>
          <a:p>
            <a:r>
              <a:rPr lang="en-IN" b="1" dirty="0"/>
              <a:t>Interpretation:</a:t>
            </a:r>
            <a:r>
              <a:rPr lang="en-IN" dirty="0"/>
              <a:t> Rainfall varies considerably across the agricultural records, with most farms experiencing moderate rainfall levels.</a:t>
            </a:r>
          </a:p>
        </p:txBody>
      </p:sp>
      <p:pic>
        <p:nvPicPr>
          <p:cNvPr id="6" name="Picture 5">
            <a:extLst>
              <a:ext uri="{FF2B5EF4-FFF2-40B4-BE49-F238E27FC236}">
                <a16:creationId xmlns:a16="http://schemas.microsoft.com/office/drawing/2014/main" id="{D110E65D-AA2C-7957-D726-341E55D9C188}"/>
              </a:ext>
            </a:extLst>
          </p:cNvPr>
          <p:cNvPicPr>
            <a:picLocks noChangeAspect="1"/>
          </p:cNvPicPr>
          <p:nvPr/>
        </p:nvPicPr>
        <p:blipFill>
          <a:blip r:embed="rId3"/>
          <a:srcRect l="1155"/>
          <a:stretch>
            <a:fillRect/>
          </a:stretch>
        </p:blipFill>
        <p:spPr>
          <a:xfrm>
            <a:off x="4432040" y="1431693"/>
            <a:ext cx="7389521" cy="46105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35156" y="1326153"/>
            <a:ext cx="4175383" cy="4539899"/>
          </a:xfrm>
        </p:spPr>
        <p:txBody>
          <a:bodyPr>
            <a:normAutofit fontScale="85000" lnSpcReduction="10000"/>
          </a:bodyPr>
          <a:lstStyle/>
          <a:p>
            <a:r>
              <a:rPr lang="en-IN" dirty="0"/>
              <a:t>The pie chart shows the </a:t>
            </a:r>
            <a:r>
              <a:rPr lang="en-IN" b="1" dirty="0"/>
              <a:t>percentage distribution of agricultural records by season</a:t>
            </a:r>
            <a:r>
              <a:rPr lang="en-IN" dirty="0"/>
              <a:t>:</a:t>
            </a:r>
          </a:p>
          <a:p>
            <a:pPr lvl="0"/>
            <a:r>
              <a:rPr lang="en-IN" b="1" dirty="0"/>
              <a:t>Kharif:</a:t>
            </a:r>
            <a:r>
              <a:rPr lang="en-IN" dirty="0"/>
              <a:t> </a:t>
            </a:r>
            <a:r>
              <a:rPr lang="en-IN" b="1" dirty="0"/>
              <a:t>44.5%</a:t>
            </a:r>
            <a:r>
              <a:rPr lang="en-IN" dirty="0"/>
              <a:t> — highest share of records. </a:t>
            </a:r>
          </a:p>
          <a:p>
            <a:pPr lvl="0"/>
            <a:r>
              <a:rPr lang="en-IN" b="1" dirty="0"/>
              <a:t>Rabi:</a:t>
            </a:r>
            <a:r>
              <a:rPr lang="en-IN" dirty="0"/>
              <a:t> </a:t>
            </a:r>
            <a:r>
              <a:rPr lang="en-IN" b="1" dirty="0"/>
              <a:t>40.7%</a:t>
            </a:r>
            <a:r>
              <a:rPr lang="en-IN" dirty="0"/>
              <a:t> — second-highest share. </a:t>
            </a:r>
          </a:p>
          <a:p>
            <a:pPr lvl="0"/>
            <a:r>
              <a:rPr lang="en-IN" b="1" dirty="0"/>
              <a:t>Zaid:</a:t>
            </a:r>
            <a:r>
              <a:rPr lang="en-IN" dirty="0"/>
              <a:t> </a:t>
            </a:r>
            <a:r>
              <a:rPr lang="en-IN" b="1" dirty="0"/>
              <a:t>14.8%</a:t>
            </a:r>
            <a:r>
              <a:rPr lang="en-IN" dirty="0"/>
              <a:t> — lowest share. </a:t>
            </a:r>
          </a:p>
          <a:p>
            <a:pPr marL="0" lvl="0" indent="0">
              <a:buNone/>
            </a:pPr>
            <a:endParaRPr lang="en-IN" dirty="0"/>
          </a:p>
          <a:p>
            <a:r>
              <a:rPr lang="en-IN" b="1" dirty="0"/>
              <a:t>Interpretation:</a:t>
            </a:r>
            <a:r>
              <a:rPr lang="en-IN" dirty="0"/>
              <a:t> Kharif and Rabi together account for the majority of the dataset (</a:t>
            </a:r>
            <a:r>
              <a:rPr lang="en-IN" b="1" dirty="0"/>
              <a:t>85.2%</a:t>
            </a:r>
            <a:r>
              <a:rPr lang="en-IN" dirty="0"/>
              <a:t>), while Zaid represents a smaller portion. Therefore, seasonal comparisons involving Zaid should be interpreted carefully due to its lower representation.</a:t>
            </a:r>
          </a:p>
        </p:txBody>
      </p:sp>
      <p:pic>
        <p:nvPicPr>
          <p:cNvPr id="2" name="Picture 1">
            <a:extLst>
              <a:ext uri="{FF2B5EF4-FFF2-40B4-BE49-F238E27FC236}">
                <a16:creationId xmlns:a16="http://schemas.microsoft.com/office/drawing/2014/main" id="{9E5A477D-0DE4-BFE4-2317-C11C2D3EB898}"/>
              </a:ext>
            </a:extLst>
          </p:cNvPr>
          <p:cNvPicPr>
            <a:picLocks noChangeAspect="1"/>
          </p:cNvPicPr>
          <p:nvPr/>
        </p:nvPicPr>
        <p:blipFill>
          <a:blip r:embed="rId3"/>
          <a:stretch>
            <a:fillRect/>
          </a:stretch>
        </p:blipFill>
        <p:spPr>
          <a:xfrm>
            <a:off x="5335577" y="1201586"/>
            <a:ext cx="5005935" cy="516449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5" end="5"/>
                                            </p:txEl>
                                          </p:spTgt>
                                        </p:tgtEl>
                                        <p:attrNameLst>
                                          <p:attrName>style.visibility</p:attrName>
                                        </p:attrNameLst>
                                      </p:cBhvr>
                                      <p:to>
                                        <p:strVal val="visible"/>
                                      </p:to>
                                    </p:set>
                                    <p:animEffect transition="in" filter="fade">
                                      <p:cBhvr>
                                        <p:cTn id="56" dur="1000"/>
                                        <p:tgtEl>
                                          <p:spTgt spid="10">
                                            <p:txEl>
                                              <p:pRg st="5" end="5"/>
                                            </p:txEl>
                                          </p:spTgt>
                                        </p:tgtEl>
                                      </p:cBhvr>
                                    </p:animEffect>
                                    <p:anim calcmode="lin" valueType="num">
                                      <p:cBhvr>
                                        <p:cTn id="5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94521" y="1201586"/>
            <a:ext cx="4769215" cy="5563107"/>
          </a:xfrm>
        </p:spPr>
        <p:txBody>
          <a:bodyPr>
            <a:normAutofit fontScale="62500" lnSpcReduction="20000"/>
          </a:bodyPr>
          <a:lstStyle/>
          <a:p>
            <a:r>
              <a:rPr lang="en-IN" dirty="0"/>
              <a:t>This </a:t>
            </a:r>
            <a:r>
              <a:rPr lang="en-IN" b="1" dirty="0"/>
              <a:t>pair plot</a:t>
            </a:r>
            <a:r>
              <a:rPr lang="en-IN" dirty="0"/>
              <a:t> shows relationships among </a:t>
            </a:r>
            <a:r>
              <a:rPr lang="en-IN" b="1" dirty="0"/>
              <a:t>temperature, rainfall, humidity, yield, and profit</a:t>
            </a:r>
            <a:r>
              <a:rPr lang="en-IN" dirty="0"/>
              <a:t>, separated by season.</a:t>
            </a:r>
          </a:p>
          <a:p>
            <a:pPr lvl="0"/>
            <a:r>
              <a:rPr lang="en-IN" b="1" dirty="0"/>
              <a:t>Temperature:</a:t>
            </a:r>
            <a:r>
              <a:rPr lang="en-IN" dirty="0"/>
              <a:t> Kharif generally has higher temperatures, while Rabi and Zaid show different temperature distributions. </a:t>
            </a:r>
          </a:p>
          <a:p>
            <a:pPr lvl="0"/>
            <a:r>
              <a:rPr lang="en-IN" b="1" dirty="0"/>
              <a:t>Rainfall:</a:t>
            </a:r>
            <a:r>
              <a:rPr lang="en-IN" dirty="0"/>
              <a:t> Kharif has generally higher rainfall, whereas Zaid has comparatively lower rainfall. </a:t>
            </a:r>
          </a:p>
          <a:p>
            <a:pPr lvl="0"/>
            <a:r>
              <a:rPr lang="en-IN" b="1" dirty="0"/>
              <a:t>Humidity:</a:t>
            </a:r>
            <a:r>
              <a:rPr lang="en-IN" dirty="0"/>
              <a:t> Kharif tends to show higher humidity compared with the other seasons. </a:t>
            </a:r>
          </a:p>
          <a:p>
            <a:pPr lvl="0"/>
            <a:r>
              <a:rPr lang="en-IN" b="1" dirty="0"/>
              <a:t>Yield:</a:t>
            </a:r>
            <a:r>
              <a:rPr lang="en-IN" dirty="0"/>
              <a:t> Most yield values are concentrated at lower levels, with some observations showing much higher yields. </a:t>
            </a:r>
          </a:p>
          <a:p>
            <a:pPr lvl="0"/>
            <a:r>
              <a:rPr lang="en-IN" b="1" dirty="0"/>
              <a:t>Profit:</a:t>
            </a:r>
            <a:r>
              <a:rPr lang="en-IN" dirty="0"/>
              <a:t> Profit varies considerably, with most observations concentrated near lower profit values. </a:t>
            </a:r>
          </a:p>
          <a:p>
            <a:pPr lvl="0"/>
            <a:r>
              <a:rPr lang="en-IN" b="1" dirty="0"/>
              <a:t>Yield vs Profit:</a:t>
            </a:r>
            <a:r>
              <a:rPr lang="en-IN" dirty="0"/>
              <a:t> There appears to be a  - </a:t>
            </a:r>
            <a:r>
              <a:rPr lang="en-IN" b="1" dirty="0"/>
              <a:t>positive relationship</a:t>
            </a:r>
            <a:r>
              <a:rPr lang="en-IN" dirty="0"/>
              <a:t>—higher yield is generally associated with higher profit. </a:t>
            </a:r>
          </a:p>
          <a:p>
            <a:pPr lvl="0"/>
            <a:r>
              <a:rPr lang="en-IN" b="1" dirty="0"/>
              <a:t>Seasonal patterns:</a:t>
            </a:r>
            <a:r>
              <a:rPr lang="en-IN" dirty="0"/>
              <a:t> The </a:t>
            </a:r>
            <a:r>
              <a:rPr lang="en-IN" dirty="0" err="1"/>
              <a:t>colors</a:t>
            </a:r>
            <a:r>
              <a:rPr lang="en-IN" dirty="0"/>
              <a:t> show that environmental conditions and agricultural performance differ noticeably among Kharif, Rabi, and Zaid. </a:t>
            </a:r>
          </a:p>
          <a:p>
            <a:r>
              <a:rPr lang="en-IN" b="1" dirty="0"/>
              <a:t>Overall interpretation:</a:t>
            </a:r>
            <a:r>
              <a:rPr lang="en-IN" dirty="0"/>
              <a:t> The plot indicates that seasonal environmental conditions are associated with differences in agricultural yield and profitability, but these relationships do </a:t>
            </a:r>
            <a:r>
              <a:rPr lang="en-IN" b="1" dirty="0"/>
              <a:t>not prove causation</a:t>
            </a:r>
            <a:r>
              <a:rPr lang="en-IN" dirty="0"/>
              <a:t>.</a:t>
            </a:r>
          </a:p>
        </p:txBody>
      </p:sp>
      <p:pic>
        <p:nvPicPr>
          <p:cNvPr id="2" name="Picture 1">
            <a:extLst>
              <a:ext uri="{FF2B5EF4-FFF2-40B4-BE49-F238E27FC236}">
                <a16:creationId xmlns:a16="http://schemas.microsoft.com/office/drawing/2014/main" id="{7B660101-DEE4-F35F-3ABF-82E9D2710512}"/>
              </a:ext>
            </a:extLst>
          </p:cNvPr>
          <p:cNvPicPr>
            <a:picLocks noChangeAspect="1"/>
          </p:cNvPicPr>
          <p:nvPr/>
        </p:nvPicPr>
        <p:blipFill>
          <a:blip r:embed="rId3"/>
          <a:stretch>
            <a:fillRect/>
          </a:stretch>
        </p:blipFill>
        <p:spPr>
          <a:xfrm>
            <a:off x="5263737" y="257484"/>
            <a:ext cx="6671635" cy="634303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8" end="8"/>
                                            </p:txEl>
                                          </p:spTgt>
                                        </p:tgtEl>
                                        <p:attrNameLst>
                                          <p:attrName>style.visibility</p:attrName>
                                        </p:attrNameLst>
                                      </p:cBhvr>
                                      <p:to>
                                        <p:strVal val="visible"/>
                                      </p:to>
                                    </p:set>
                                    <p:animEffect transition="in" filter="fade">
                                      <p:cBhvr>
                                        <p:cTn id="84" dur="1000"/>
                                        <p:tgtEl>
                                          <p:spTgt spid="10">
                                            <p:txEl>
                                              <p:pRg st="8" end="8"/>
                                            </p:txEl>
                                          </p:spTgt>
                                        </p:tgtEl>
                                      </p:cBhvr>
                                    </p:animEffect>
                                    <p:anim calcmode="lin" valueType="num">
                                      <p:cBhvr>
                                        <p:cTn id="85"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949A-E0FD-D4F3-51C6-7DED4C85844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332B92-1D49-BD7F-D375-AAAA6D921EF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5280405-DD3D-FAD0-9C01-02B911C452C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D643EDB-F3A2-24BE-04F2-4905AA150E7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3B3C17A-BA78-9E57-FA2C-3825C2256F8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2046DE2-8955-DCD2-11BA-C825D3EB6EFF}"/>
              </a:ext>
            </a:extLst>
          </p:cNvPr>
          <p:cNvSpPr>
            <a:spLocks noGrp="1"/>
          </p:cNvSpPr>
          <p:nvPr>
            <p:ph type="body" sz="quarter" idx="12"/>
          </p:nvPr>
        </p:nvSpPr>
        <p:spPr>
          <a:xfrm>
            <a:off x="457200" y="1201587"/>
            <a:ext cx="4310743" cy="5309706"/>
          </a:xfrm>
        </p:spPr>
        <p:txBody>
          <a:bodyPr>
            <a:normAutofit fontScale="55000" lnSpcReduction="20000"/>
          </a:bodyPr>
          <a:lstStyle/>
          <a:p>
            <a:r>
              <a:rPr lang="en-IN" b="1" dirty="0"/>
              <a:t>Correlation Matrix – Short Explanation</a:t>
            </a:r>
          </a:p>
          <a:p>
            <a:r>
              <a:rPr lang="en-IN" dirty="0"/>
              <a:t>The correlation matrix shows the relationships between numerical agricultural variables.</a:t>
            </a:r>
          </a:p>
          <a:p>
            <a:pPr lvl="0"/>
            <a:r>
              <a:rPr lang="en-IN" b="1" dirty="0"/>
              <a:t>Yield and Production:</a:t>
            </a:r>
            <a:r>
              <a:rPr lang="en-IN" dirty="0"/>
              <a:t> Strong positive correlation (</a:t>
            </a:r>
            <a:r>
              <a:rPr lang="en-IN" b="1" dirty="0"/>
              <a:t>0.88</a:t>
            </a:r>
            <a:r>
              <a:rPr lang="en-IN" dirty="0"/>
              <a:t>), meaning higher yield is generally associated with higher production. </a:t>
            </a:r>
          </a:p>
          <a:p>
            <a:pPr lvl="0"/>
            <a:r>
              <a:rPr lang="en-IN" b="1" dirty="0"/>
              <a:t>Yield and Water Efficiency:</a:t>
            </a:r>
            <a:r>
              <a:rPr lang="en-IN" dirty="0"/>
              <a:t> Very strong positive correlation (</a:t>
            </a:r>
            <a:r>
              <a:rPr lang="en-IN" b="1" dirty="0"/>
              <a:t>0.91</a:t>
            </a:r>
            <a:r>
              <a:rPr lang="en-IN" dirty="0"/>
              <a:t>), indicating that higher yield is strongly associated with better water efficiency. </a:t>
            </a:r>
          </a:p>
          <a:p>
            <a:pPr lvl="0"/>
            <a:r>
              <a:rPr lang="en-IN" b="1" dirty="0"/>
              <a:t>Revenue and Profit:</a:t>
            </a:r>
            <a:r>
              <a:rPr lang="en-IN" dirty="0"/>
              <a:t> Strong positive correlation (</a:t>
            </a:r>
            <a:r>
              <a:rPr lang="en-IN" b="1" dirty="0"/>
              <a:t>0.89</a:t>
            </a:r>
            <a:r>
              <a:rPr lang="en-IN" dirty="0"/>
              <a:t>), showing that higher revenue is generally associated with higher profit. </a:t>
            </a:r>
          </a:p>
          <a:p>
            <a:pPr lvl="0"/>
            <a:r>
              <a:rPr lang="en-IN" b="1" dirty="0"/>
              <a:t>Farm Area and Total Cost:</a:t>
            </a:r>
            <a:r>
              <a:rPr lang="en-IN" dirty="0"/>
              <a:t> Very strong positive correlation (</a:t>
            </a:r>
            <a:r>
              <a:rPr lang="en-IN" b="1" dirty="0"/>
              <a:t>0.96</a:t>
            </a:r>
            <a:r>
              <a:rPr lang="en-IN" dirty="0"/>
              <a:t>), indicating that larger farms generally have higher total costs. </a:t>
            </a:r>
          </a:p>
          <a:p>
            <a:pPr lvl="0"/>
            <a:r>
              <a:rPr lang="en-IN" b="1" dirty="0"/>
              <a:t>Production and Water Efficiency:</a:t>
            </a:r>
            <a:r>
              <a:rPr lang="en-IN" dirty="0"/>
              <a:t> Strong positive correlation (</a:t>
            </a:r>
            <a:r>
              <a:rPr lang="en-IN" b="1" dirty="0"/>
              <a:t>0.81</a:t>
            </a:r>
            <a:r>
              <a:rPr lang="en-IN" dirty="0"/>
              <a:t>). </a:t>
            </a:r>
          </a:p>
          <a:p>
            <a:pPr lvl="0"/>
            <a:r>
              <a:rPr lang="en-IN" b="1" dirty="0"/>
              <a:t>Rainfall and Disease/Pest Risk:</a:t>
            </a:r>
            <a:r>
              <a:rPr lang="en-IN" dirty="0"/>
              <a:t> Moderate positive correlation (</a:t>
            </a:r>
            <a:r>
              <a:rPr lang="en-IN" b="1" dirty="0"/>
              <a:t>0.62</a:t>
            </a:r>
            <a:r>
              <a:rPr lang="en-IN" dirty="0"/>
              <a:t>). </a:t>
            </a:r>
          </a:p>
          <a:p>
            <a:pPr lvl="0"/>
            <a:r>
              <a:rPr lang="en-IN" b="1" dirty="0"/>
              <a:t>Pesticide Usage and Disease/Pest Risk:</a:t>
            </a:r>
            <a:r>
              <a:rPr lang="en-IN" dirty="0"/>
              <a:t> Moderate negative correlation (</a:t>
            </a:r>
            <a:r>
              <a:rPr lang="en-IN" b="1" dirty="0"/>
              <a:t>-0.47</a:t>
            </a:r>
            <a:r>
              <a:rPr lang="en-IN" dirty="0"/>
              <a:t>). </a:t>
            </a:r>
          </a:p>
          <a:p>
            <a:pPr lvl="0"/>
            <a:r>
              <a:rPr lang="en-IN" b="1" dirty="0"/>
              <a:t>Sunlight and Rainfall:</a:t>
            </a:r>
            <a:r>
              <a:rPr lang="en-IN" dirty="0"/>
              <a:t> Moderate negative correlation (</a:t>
            </a:r>
            <a:r>
              <a:rPr lang="en-IN" b="1" dirty="0"/>
              <a:t>-0.36</a:t>
            </a:r>
            <a:r>
              <a:rPr lang="en-IN" dirty="0"/>
              <a:t>). </a:t>
            </a:r>
          </a:p>
          <a:p>
            <a:r>
              <a:rPr lang="en-IN" b="1" dirty="0"/>
              <a:t>Overall Interpretation:</a:t>
            </a:r>
            <a:r>
              <a:rPr lang="en-IN" dirty="0"/>
              <a:t> The matrix highlights important relationships among agricultural production, yield, resources, environmental conditions, and economic performance. However, these correlations show </a:t>
            </a:r>
            <a:r>
              <a:rPr lang="en-IN" b="1" dirty="0"/>
              <a:t>association, not causation</a:t>
            </a:r>
            <a:r>
              <a:rPr lang="en-IN" dirty="0"/>
              <a:t>.</a:t>
            </a:r>
          </a:p>
        </p:txBody>
      </p:sp>
      <p:pic>
        <p:nvPicPr>
          <p:cNvPr id="2" name="Picture 1">
            <a:extLst>
              <a:ext uri="{FF2B5EF4-FFF2-40B4-BE49-F238E27FC236}">
                <a16:creationId xmlns:a16="http://schemas.microsoft.com/office/drawing/2014/main" id="{EA114488-F0AB-B2B3-1BDE-0146D1A1C18B}"/>
              </a:ext>
            </a:extLst>
          </p:cNvPr>
          <p:cNvPicPr>
            <a:picLocks noChangeAspect="1"/>
          </p:cNvPicPr>
          <p:nvPr/>
        </p:nvPicPr>
        <p:blipFill>
          <a:blip r:embed="rId3"/>
          <a:stretch>
            <a:fillRect/>
          </a:stretch>
        </p:blipFill>
        <p:spPr>
          <a:xfrm>
            <a:off x="4767942" y="346707"/>
            <a:ext cx="7424058" cy="6318254"/>
          </a:xfrm>
          <a:prstGeom prst="rect">
            <a:avLst/>
          </a:prstGeom>
        </p:spPr>
      </p:pic>
    </p:spTree>
    <p:extLst>
      <p:ext uri="{BB962C8B-B14F-4D97-AF65-F5344CB8AC3E}">
        <p14:creationId xmlns:p14="http://schemas.microsoft.com/office/powerpoint/2010/main" val="76860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8" end="8"/>
                                            </p:txEl>
                                          </p:spTgt>
                                        </p:tgtEl>
                                        <p:attrNameLst>
                                          <p:attrName>style.visibility</p:attrName>
                                        </p:attrNameLst>
                                      </p:cBhvr>
                                      <p:to>
                                        <p:strVal val="visible"/>
                                      </p:to>
                                    </p:set>
                                    <p:animEffect transition="in" filter="fade">
                                      <p:cBhvr>
                                        <p:cTn id="84" dur="1000"/>
                                        <p:tgtEl>
                                          <p:spTgt spid="10">
                                            <p:txEl>
                                              <p:pRg st="8" end="8"/>
                                            </p:txEl>
                                          </p:spTgt>
                                        </p:tgtEl>
                                      </p:cBhvr>
                                    </p:animEffect>
                                    <p:anim calcmode="lin" valueType="num">
                                      <p:cBhvr>
                                        <p:cTn id="85"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9" end="9"/>
                                            </p:txEl>
                                          </p:spTgt>
                                        </p:tgtEl>
                                        <p:attrNameLst>
                                          <p:attrName>style.visibility</p:attrName>
                                        </p:attrNameLst>
                                      </p:cBhvr>
                                      <p:to>
                                        <p:strVal val="visible"/>
                                      </p:to>
                                    </p:set>
                                    <p:animEffect transition="in" filter="fade">
                                      <p:cBhvr>
                                        <p:cTn id="91" dur="1000"/>
                                        <p:tgtEl>
                                          <p:spTgt spid="10">
                                            <p:txEl>
                                              <p:pRg st="9" end="9"/>
                                            </p:txEl>
                                          </p:spTgt>
                                        </p:tgtEl>
                                      </p:cBhvr>
                                    </p:animEffect>
                                    <p:anim calcmode="lin" valueType="num">
                                      <p:cBhvr>
                                        <p:cTn id="92"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0" end="10"/>
                                            </p:txEl>
                                          </p:spTgt>
                                        </p:tgtEl>
                                        <p:attrNameLst>
                                          <p:attrName>style.visibility</p:attrName>
                                        </p:attrNameLst>
                                      </p:cBhvr>
                                      <p:to>
                                        <p:strVal val="visible"/>
                                      </p:to>
                                    </p:set>
                                    <p:animEffect transition="in" filter="fade">
                                      <p:cBhvr>
                                        <p:cTn id="98" dur="1000"/>
                                        <p:tgtEl>
                                          <p:spTgt spid="10">
                                            <p:txEl>
                                              <p:pRg st="10" end="10"/>
                                            </p:txEl>
                                          </p:spTgt>
                                        </p:tgtEl>
                                      </p:cBhvr>
                                    </p:animEffect>
                                    <p:anim calcmode="lin" valueType="num">
                                      <p:cBhvr>
                                        <p:cTn id="99"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59837" y="1201586"/>
            <a:ext cx="5008645" cy="5171221"/>
          </a:xfrm>
        </p:spPr>
        <p:txBody>
          <a:bodyPr>
            <a:normAutofit fontScale="70000" lnSpcReduction="20000"/>
          </a:bodyPr>
          <a:lstStyle/>
          <a:p>
            <a:r>
              <a:rPr lang="en-IN" b="1" dirty="0"/>
              <a:t>Rainfall, Yield and Seasonal Differences – Short Explanation</a:t>
            </a:r>
          </a:p>
          <a:p>
            <a:r>
              <a:rPr lang="en-IN" dirty="0"/>
              <a:t>The scatter plot shows the relationship between </a:t>
            </a:r>
            <a:r>
              <a:rPr lang="en-IN" b="1" dirty="0"/>
              <a:t>rainfall and crop yield across Kharif, Rabi, and Zaid seasons</a:t>
            </a:r>
            <a:r>
              <a:rPr lang="en-IN" dirty="0"/>
              <a:t>.</a:t>
            </a:r>
          </a:p>
          <a:p>
            <a:pPr lvl="0"/>
            <a:r>
              <a:rPr lang="en-IN" b="1" dirty="0"/>
              <a:t>Kharif</a:t>
            </a:r>
            <a:r>
              <a:rPr lang="en-IN" dirty="0"/>
              <a:t> generally has higher rainfall, with several observations showing higher yields. </a:t>
            </a:r>
          </a:p>
          <a:p>
            <a:pPr lvl="0"/>
            <a:r>
              <a:rPr lang="en-IN" b="1" dirty="0"/>
              <a:t>Rabi</a:t>
            </a:r>
            <a:r>
              <a:rPr lang="en-IN" dirty="0"/>
              <a:t> covers a wide range of rainfall and yield values, showing considerable variation. </a:t>
            </a:r>
          </a:p>
          <a:p>
            <a:pPr lvl="0"/>
            <a:r>
              <a:rPr lang="en-IN" b="1" dirty="0"/>
              <a:t>Zaid</a:t>
            </a:r>
            <a:r>
              <a:rPr lang="en-IN" dirty="0"/>
              <a:t> generally occurs at lower rainfall levels, with moderate yield values. </a:t>
            </a:r>
          </a:p>
          <a:p>
            <a:pPr lvl="0"/>
            <a:r>
              <a:rPr lang="en-IN" dirty="0"/>
              <a:t>The plot suggests that </a:t>
            </a:r>
            <a:r>
              <a:rPr lang="en-IN" b="1" dirty="0"/>
              <a:t>higher rainfall does not always result in higher yield</a:t>
            </a:r>
            <a:r>
              <a:rPr lang="en-IN" dirty="0"/>
              <a:t>, as many observations have low yields even with substantial rainfall. </a:t>
            </a:r>
          </a:p>
          <a:p>
            <a:pPr lvl="0"/>
            <a:r>
              <a:rPr lang="en-IN" dirty="0"/>
              <a:t>Larger bubbles represent farms with larger </a:t>
            </a:r>
            <a:r>
              <a:rPr lang="en-IN" b="1" dirty="0"/>
              <a:t>farm areas</a:t>
            </a:r>
            <a:r>
              <a:rPr lang="en-IN" dirty="0"/>
              <a:t>. </a:t>
            </a:r>
          </a:p>
          <a:p>
            <a:endParaRPr lang="en-IN" b="1" dirty="0"/>
          </a:p>
          <a:p>
            <a:r>
              <a:rPr lang="en-IN" b="1" dirty="0"/>
              <a:t>Overall Interpretation:</a:t>
            </a:r>
            <a:r>
              <a:rPr lang="en-IN" dirty="0"/>
              <a:t> Seasonal conditions and rainfall are associated with differences in crop yield, but rainfall alone does not determine yield. Other factors such as crop type, soil conditions, irrigation, and farming practices may also influence agricultural performance.</a:t>
            </a:r>
          </a:p>
        </p:txBody>
      </p:sp>
      <p:pic>
        <p:nvPicPr>
          <p:cNvPr id="2" name="Picture 1">
            <a:extLst>
              <a:ext uri="{FF2B5EF4-FFF2-40B4-BE49-F238E27FC236}">
                <a16:creationId xmlns:a16="http://schemas.microsoft.com/office/drawing/2014/main" id="{B235C9A2-5C33-E5F1-6A8A-2C299DD1C2C2}"/>
              </a:ext>
            </a:extLst>
          </p:cNvPr>
          <p:cNvPicPr>
            <a:picLocks noChangeAspect="1"/>
          </p:cNvPicPr>
          <p:nvPr/>
        </p:nvPicPr>
        <p:blipFill>
          <a:blip r:embed="rId3"/>
          <a:stretch>
            <a:fillRect/>
          </a:stretch>
        </p:blipFill>
        <p:spPr>
          <a:xfrm>
            <a:off x="5568483" y="651502"/>
            <a:ext cx="6526033" cy="591693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8" end="8"/>
                                            </p:txEl>
                                          </p:spTgt>
                                        </p:tgtEl>
                                        <p:attrNameLst>
                                          <p:attrName>style.visibility</p:attrName>
                                        </p:attrNameLst>
                                      </p:cBhvr>
                                      <p:to>
                                        <p:strVal val="visible"/>
                                      </p:to>
                                    </p:set>
                                    <p:animEffect transition="in" filter="fade">
                                      <p:cBhvr>
                                        <p:cTn id="77" dur="1000"/>
                                        <p:tgtEl>
                                          <p:spTgt spid="10">
                                            <p:txEl>
                                              <p:pRg st="8" end="8"/>
                                            </p:txEl>
                                          </p:spTgt>
                                        </p:tgtEl>
                                      </p:cBhvr>
                                    </p:animEffect>
                                    <p:anim calcmode="lin" valueType="num">
                                      <p:cBhvr>
                                        <p:cTn id="78"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D6FC008-80DE-B8FC-622B-09B7C18BCCBF}"/>
              </a:ext>
            </a:extLst>
          </p:cNvPr>
          <p:cNvSpPr txBox="1"/>
          <p:nvPr/>
        </p:nvSpPr>
        <p:spPr>
          <a:xfrm>
            <a:off x="675957" y="1201587"/>
            <a:ext cx="10464794" cy="4816658"/>
          </a:xfrm>
          <a:prstGeom prst="rect">
            <a:avLst/>
          </a:prstGeom>
          <a:noFill/>
        </p:spPr>
        <p:txBody>
          <a:bodyPr wrap="square" rtlCol="0">
            <a:spAutoFit/>
          </a:bodyPr>
          <a:lstStyle/>
          <a:p>
            <a:r>
              <a:rPr lang="en-IN" dirty="0"/>
              <a:t>The future scope of the </a:t>
            </a:r>
            <a:r>
              <a:rPr lang="en-IN" b="1" dirty="0"/>
              <a:t>Seasonal Agriculture Performance Analysis</a:t>
            </a:r>
            <a:r>
              <a:rPr lang="en-IN" dirty="0"/>
              <a:t> project includes:</a:t>
            </a:r>
          </a:p>
          <a:p>
            <a:pPr marL="285750" lvl="0" indent="-285750">
              <a:buFont typeface="Arial" panose="020B0604020202020204" pitchFamily="34" charset="0"/>
              <a:buChar char="•"/>
            </a:pPr>
            <a:r>
              <a:rPr lang="en-IN" b="1" dirty="0"/>
              <a:t>Predictive Analysis:</a:t>
            </a:r>
            <a:r>
              <a:rPr lang="en-IN" dirty="0"/>
              <a:t> Use machine learning to predict crop yield and agricultural performance for upcoming seasons. </a:t>
            </a:r>
          </a:p>
          <a:p>
            <a:pPr marL="285750" lvl="0" indent="-285750">
              <a:buFont typeface="Arial" panose="020B0604020202020204" pitchFamily="34" charset="0"/>
              <a:buChar char="•"/>
            </a:pPr>
            <a:r>
              <a:rPr lang="en-IN" b="1" dirty="0"/>
              <a:t>Weather Integration:</a:t>
            </a:r>
            <a:r>
              <a:rPr lang="en-IN" dirty="0"/>
              <a:t> Incorporate real-time weather data such as rainfall, temperature, and humidity for better seasonal predictions. </a:t>
            </a:r>
          </a:p>
          <a:p>
            <a:pPr marL="285750" lvl="0" indent="-285750">
              <a:buFont typeface="Arial" panose="020B0604020202020204" pitchFamily="34" charset="0"/>
              <a:buChar char="•"/>
            </a:pPr>
            <a:r>
              <a:rPr lang="en-IN" b="1" dirty="0"/>
              <a:t>Crop Recommendation:</a:t>
            </a:r>
            <a:r>
              <a:rPr lang="en-IN" dirty="0"/>
              <a:t> Develop a system that recommends suitable crops based on season, soil, and environmental conditions. </a:t>
            </a:r>
          </a:p>
          <a:p>
            <a:pPr marL="285750" lvl="0" indent="-285750">
              <a:buFont typeface="Arial" panose="020B0604020202020204" pitchFamily="34" charset="0"/>
              <a:buChar char="•"/>
            </a:pPr>
            <a:r>
              <a:rPr lang="en-IN" b="1" dirty="0"/>
              <a:t>Resource Optimization:</a:t>
            </a:r>
            <a:r>
              <a:rPr lang="en-IN" dirty="0"/>
              <a:t> Predict and optimize the required amount of water, fertilizer, and other resources. </a:t>
            </a:r>
          </a:p>
          <a:p>
            <a:pPr marL="285750" lvl="0" indent="-285750">
              <a:buFont typeface="Arial" panose="020B0604020202020204" pitchFamily="34" charset="0"/>
              <a:buChar char="•"/>
            </a:pPr>
            <a:r>
              <a:rPr lang="en-IN" b="1" dirty="0"/>
              <a:t>Regional Analysis:</a:t>
            </a:r>
            <a:r>
              <a:rPr lang="en-IN" dirty="0"/>
              <a:t> Expand the analysis to more geographical regions to identify location-specific agricultural patterns. </a:t>
            </a:r>
          </a:p>
          <a:p>
            <a:pPr marL="285750" lvl="0" indent="-285750">
              <a:buFont typeface="Arial" panose="020B0604020202020204" pitchFamily="34" charset="0"/>
              <a:buChar char="•"/>
            </a:pPr>
            <a:r>
              <a:rPr lang="en-IN" b="1" dirty="0"/>
              <a:t>Market Prediction:</a:t>
            </a:r>
            <a:r>
              <a:rPr lang="en-IN" dirty="0"/>
              <a:t> Include market prices to predict potential revenue and profitability. </a:t>
            </a:r>
          </a:p>
          <a:p>
            <a:pPr marL="285750" lvl="0" indent="-285750">
              <a:buFont typeface="Arial" panose="020B0604020202020204" pitchFamily="34" charset="0"/>
              <a:buChar char="•"/>
            </a:pPr>
            <a:r>
              <a:rPr lang="en-IN" b="1" dirty="0"/>
              <a:t>Interactive Dashboard:</a:t>
            </a:r>
            <a:r>
              <a:rPr lang="en-IN" dirty="0"/>
              <a:t> Develop a dashboard using tools such as Power BI, Tableau, or </a:t>
            </a:r>
            <a:r>
              <a:rPr lang="en-IN" dirty="0" err="1"/>
              <a:t>Streamlit</a:t>
            </a:r>
            <a:r>
              <a:rPr lang="en-IN" dirty="0"/>
              <a:t> for real-time visualization. </a:t>
            </a:r>
          </a:p>
          <a:p>
            <a:pPr marL="285750" lvl="0" indent="-285750">
              <a:buFont typeface="Arial" panose="020B0604020202020204" pitchFamily="34" charset="0"/>
              <a:buChar char="•"/>
            </a:pPr>
            <a:r>
              <a:rPr lang="en-IN" b="1" dirty="0"/>
              <a:t>AI-Based Decision Support:</a:t>
            </a:r>
            <a:r>
              <a:rPr lang="en-IN" dirty="0"/>
              <a:t> Build an intelligent system that provides data-driven recommendations to farmers and agricultural planners.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576856" y="1423744"/>
            <a:ext cx="8851624" cy="954107"/>
          </a:xfrm>
          <a:prstGeom prst="rect">
            <a:avLst/>
          </a:prstGeom>
          <a:noFill/>
        </p:spPr>
        <p:txBody>
          <a:bodyPr wrap="square">
            <a:spAutoFit/>
          </a:bodyPr>
          <a:lstStyle/>
          <a:p>
            <a:r>
              <a:rPr lang="en-US" sz="2800" dirty="0"/>
              <a:t>https://github.com/Anupriya39/Seasonal-Agriculture-Performance-Analysis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6204BA6-BF00-1AC6-0108-C602E7652325}"/>
              </a:ext>
            </a:extLst>
          </p:cNvPr>
          <p:cNvPicPr>
            <a:picLocks noChangeAspect="1"/>
          </p:cNvPicPr>
          <p:nvPr/>
        </p:nvPicPr>
        <p:blipFill>
          <a:blip r:embed="rId3"/>
          <a:stretch>
            <a:fillRect/>
          </a:stretch>
        </p:blipFill>
        <p:spPr>
          <a:xfrm>
            <a:off x="820323" y="1419120"/>
            <a:ext cx="8118403" cy="532807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1986511"/>
            <a:ext cx="10887663" cy="2247727"/>
          </a:xfrm>
          <a:prstGeom prst="rect">
            <a:avLst/>
          </a:prstGeom>
        </p:spPr>
        <p:txBody>
          <a:bodyPr anchor="ctr">
            <a:normAutofit/>
          </a:bodyPr>
          <a:lstStyle/>
          <a:p>
            <a:pPr algn="ctr"/>
            <a:r>
              <a:rPr lang="en-US" sz="8000" b="1" dirty="0">
                <a:solidFill>
                  <a:srgbClr val="00B0F0"/>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3024</TotalTime>
  <Words>1447</Words>
  <Application>Microsoft Office PowerPoint</Application>
  <PresentationFormat>Widescreen</PresentationFormat>
  <Paragraphs>98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Anupriya</dc:creator>
  <cp:lastModifiedBy>Anupriya .</cp:lastModifiedBy>
  <cp:revision>100</cp:revision>
  <dcterms:created xsi:type="dcterms:W3CDTF">2021-07-11T13:13:15Z</dcterms:created>
  <dcterms:modified xsi:type="dcterms:W3CDTF">2026-09-10T21:36:02Z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